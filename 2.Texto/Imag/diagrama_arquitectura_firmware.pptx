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B3"/>
    <a:srgbClr val="FFAFAF"/>
    <a:srgbClr val="FF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9DD6-2B5C-3AF6-6D0F-A0303E263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FACB8-A305-CECC-FB37-93AE2C4C0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BDC24-FE58-7869-C7C3-A7670DC8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62A44-E3A7-70AC-DAC7-49BDC8EA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805A9-1E91-56BF-D967-1C0C4B8B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7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44C6-98AC-98AC-06F3-649E1CDA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29639-BE1C-3AA1-B460-0587299C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8FBB0-DF30-F6B7-3C93-ECFADB99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4E08-5D5F-0D82-D533-41CDD4F3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F3CA5-EB5B-85FA-F2D1-33A47FD2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4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1717-EC76-6A55-A247-EF0FAE09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5F6FF-BF1C-3845-D4EA-D526B110D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9D336-225D-014F-3867-1D7AD95C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2C18-4A98-6FE4-DE96-C6C9784C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6CF47-9527-A892-5306-A6178AD7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6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0A7D-01E0-23F3-473C-1942B2A2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0C14-B8D7-4010-7824-520E8ADC6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98B7A-179D-09BC-B98B-704BCBD55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E23ED-CE44-CEF4-9807-30117BD3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5DDD3-2CDD-0413-44FB-FD003A47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09A99-8003-E58E-8C45-E4D460D4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7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02AE-D77F-80CD-5BD5-8074B7A43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4174F-8D76-9C4E-660F-78E9359AD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6F744-9262-5EA0-BDD9-E33655C6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7ED5A-00EF-7460-BB54-64A746C1A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3ABA1C-880A-699C-72A3-9976ACD61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3C97C-9C32-5AB0-678B-A28FBD8F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95252-9CF2-6D0E-3988-374BD4B8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34B01-3E45-93BE-C8A9-EDE1E7DA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4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77AE-8CC6-30BA-7B3F-FA1FC1AC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00A85-8132-12F9-957B-38470756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9DE7E-1CC1-DA8C-D566-42C10584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3C2F7-E7AF-3185-8438-68EAA54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4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A52CA-EB89-C2A5-C1E0-197EF0F0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EA576-8677-B01C-9562-D0FA40E1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FDAF9-D6E1-E99C-4E32-3B3C5DEE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3BE7-F79E-4F79-49FA-22D8264F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3D67D-20F7-29D3-E755-F0D5E03BA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1F0F8-1B71-5EAA-3933-C37288E10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E2284-CB0C-0021-B939-02359C4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E5E39-5465-7D4E-912A-924AFCE4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CC893-65DF-AC17-AD6B-A9C40D38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2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04AB-2FAC-9291-EBDF-BF613474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CC5A9-E2D9-8269-341E-22AA4E4EC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90CA0-6882-49AE-EB10-97B01CE0D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0E515-3D89-69FD-506D-484F1351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457DE-67E3-5391-79ED-70344C3A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B9E0-38FB-2936-3FBD-D3F77090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8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CBCA-5747-615B-CE3F-FC5E3D0E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244C8-3B58-C610-B4D7-D6E161E8D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13B8-F1F9-09CD-552C-B3C051DA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363F-D8B2-4489-8CC4-03ACE056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8837-F294-A9D6-3D47-BF17C328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7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A4363-D34C-B3C9-3DC0-61A83407F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25E9F-F9A6-CEBB-C072-4D4B9B518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5FA2-2127-9F25-9EEF-EBFCA12B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B3964-9F17-7DCF-391D-2DF43E12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4DBA-45FF-A32D-C0C4-448DB988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A23A6-6B69-FE74-B001-E496297F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A4C2E-CC56-A970-ACC4-582D02431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E3409-EE46-00B7-6233-4357411FE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3AB1C-0B5C-4DB8-A8D0-C5F00FEACC4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F5C6A-F3FB-5770-EA38-27A6FE077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5D2B2-E4D6-3F69-2395-45B016704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15AB1-7AAD-46C8-BB4D-0862B98E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7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EC0EBC-6054-0906-08E6-E66C0ED9F286}"/>
              </a:ext>
            </a:extLst>
          </p:cNvPr>
          <p:cNvSpPr/>
          <p:nvPr/>
        </p:nvSpPr>
        <p:spPr>
          <a:xfrm>
            <a:off x="39368" y="108149"/>
            <a:ext cx="2844627" cy="5424901"/>
          </a:xfrm>
          <a:prstGeom prst="roundRect">
            <a:avLst>
              <a:gd name="adj" fmla="val 3728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54B1D-F15F-7D31-DC36-4CB04E955EEA}"/>
              </a:ext>
            </a:extLst>
          </p:cNvPr>
          <p:cNvSpPr txBox="1"/>
          <p:nvPr/>
        </p:nvSpPr>
        <p:spPr>
          <a:xfrm>
            <a:off x="526088" y="270383"/>
            <a:ext cx="1749822" cy="369332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Raspberry PI 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D1FBDB-1BD9-2E1D-CD30-9F193638289B}"/>
              </a:ext>
            </a:extLst>
          </p:cNvPr>
          <p:cNvSpPr/>
          <p:nvPr/>
        </p:nvSpPr>
        <p:spPr>
          <a:xfrm>
            <a:off x="541328" y="3102226"/>
            <a:ext cx="1898689" cy="6689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diffdrive_arduino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837E92-C3BC-29EA-780A-8886CC42A1A7}"/>
              </a:ext>
            </a:extLst>
          </p:cNvPr>
          <p:cNvGrpSpPr/>
          <p:nvPr/>
        </p:nvGrpSpPr>
        <p:grpSpPr>
          <a:xfrm>
            <a:off x="4494189" y="108149"/>
            <a:ext cx="7602639" cy="5424901"/>
            <a:chOff x="537322" y="1769805"/>
            <a:chExt cx="4555788" cy="542490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5D9BE72-D4A9-CB76-EDD7-09F985BF9FC0}"/>
                </a:ext>
              </a:extLst>
            </p:cNvPr>
            <p:cNvSpPr/>
            <p:nvPr/>
          </p:nvSpPr>
          <p:spPr>
            <a:xfrm>
              <a:off x="537322" y="1769805"/>
              <a:ext cx="4555788" cy="5424901"/>
            </a:xfrm>
            <a:prstGeom prst="roundRect">
              <a:avLst>
                <a:gd name="adj" fmla="val 3728"/>
              </a:avLst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EB534A-C122-0D0D-919C-838A688E79FF}"/>
                </a:ext>
              </a:extLst>
            </p:cNvPr>
            <p:cNvSpPr txBox="1"/>
            <p:nvPr/>
          </p:nvSpPr>
          <p:spPr>
            <a:xfrm>
              <a:off x="889819" y="1932039"/>
              <a:ext cx="370676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Arduino Nano – ATmega328P</a:t>
              </a:r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70AA850-C13E-E454-1464-CFFE849F4C07}"/>
              </a:ext>
            </a:extLst>
          </p:cNvPr>
          <p:cNvGrpSpPr/>
          <p:nvPr/>
        </p:nvGrpSpPr>
        <p:grpSpPr>
          <a:xfrm>
            <a:off x="3286660" y="2992916"/>
            <a:ext cx="953729" cy="854863"/>
            <a:chOff x="3578942" y="2091809"/>
            <a:chExt cx="953729" cy="37854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07F045E-EF27-985D-8F0D-3634C5DE3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8942" y="2091809"/>
              <a:ext cx="953729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3A47E04-B989-2165-C606-DECC8B1366D3}"/>
                </a:ext>
              </a:extLst>
            </p:cNvPr>
            <p:cNvCxnSpPr>
              <a:cxnSpLocks/>
            </p:cNvCxnSpPr>
            <p:nvPr/>
          </p:nvCxnSpPr>
          <p:spPr>
            <a:xfrm>
              <a:off x="3578942" y="2470351"/>
              <a:ext cx="95372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4A0B6-012F-8326-737C-0E7AC948F43F}"/>
              </a:ext>
            </a:extLst>
          </p:cNvPr>
          <p:cNvSpPr/>
          <p:nvPr/>
        </p:nvSpPr>
        <p:spPr>
          <a:xfrm>
            <a:off x="8572038" y="1125518"/>
            <a:ext cx="2221317" cy="6988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 err="1"/>
              <a:t>ROSArduinoBridge</a:t>
            </a:r>
            <a:endParaRPr lang="en-US" sz="16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A8DE41-5C07-8655-755C-E4279C96FAA2}"/>
              </a:ext>
            </a:extLst>
          </p:cNvPr>
          <p:cNvSpPr/>
          <p:nvPr/>
        </p:nvSpPr>
        <p:spPr>
          <a:xfrm>
            <a:off x="4627577" y="1125518"/>
            <a:ext cx="1232125" cy="698847"/>
          </a:xfrm>
          <a:prstGeom prst="rect">
            <a:avLst/>
          </a:prstGeom>
          <a:solidFill>
            <a:srgbClr val="C000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commands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9D03B0-354F-3C97-F207-1221E7789691}"/>
              </a:ext>
            </a:extLst>
          </p:cNvPr>
          <p:cNvSpPr/>
          <p:nvPr/>
        </p:nvSpPr>
        <p:spPr>
          <a:xfrm>
            <a:off x="7630334" y="3079576"/>
            <a:ext cx="1696064" cy="69884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 err="1"/>
              <a:t>diff_controller</a:t>
            </a:r>
            <a:endParaRPr lang="en-US" sz="160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156F86-3FB4-3E07-3C28-6745852BE5F8}"/>
              </a:ext>
            </a:extLst>
          </p:cNvPr>
          <p:cNvSpPr/>
          <p:nvPr/>
        </p:nvSpPr>
        <p:spPr>
          <a:xfrm>
            <a:off x="4834479" y="4329508"/>
            <a:ext cx="1922208" cy="69884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encoder_driver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41E3B3-02A5-486A-6419-08BFB987FAC2}"/>
              </a:ext>
            </a:extLst>
          </p:cNvPr>
          <p:cNvSpPr/>
          <p:nvPr/>
        </p:nvSpPr>
        <p:spPr>
          <a:xfrm>
            <a:off x="9719667" y="4329507"/>
            <a:ext cx="1922208" cy="698847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 err="1"/>
              <a:t>motor_driver</a:t>
            </a:r>
            <a:endParaRPr lang="en-US" sz="1600" noProof="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33CD77-776D-3B31-81C2-CCC5E51FCAE4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>
            <a:off x="5859702" y="1474942"/>
            <a:ext cx="2712336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456864D-8146-87FA-21D3-8385C51485E0}"/>
              </a:ext>
            </a:extLst>
          </p:cNvPr>
          <p:cNvCxnSpPr>
            <a:stCxn id="20" idx="3"/>
            <a:endCxn id="22" idx="0"/>
          </p:cNvCxnSpPr>
          <p:nvPr/>
        </p:nvCxnSpPr>
        <p:spPr>
          <a:xfrm>
            <a:off x="9326398" y="3429000"/>
            <a:ext cx="1354373" cy="900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A423E89-8F03-2613-1C41-C68DF07D6785}"/>
              </a:ext>
            </a:extLst>
          </p:cNvPr>
          <p:cNvCxnSpPr>
            <a:stCxn id="20" idx="1"/>
            <a:endCxn id="21" idx="0"/>
          </p:cNvCxnSpPr>
          <p:nvPr/>
        </p:nvCxnSpPr>
        <p:spPr>
          <a:xfrm rot="10800000" flipV="1">
            <a:off x="5795584" y="3429000"/>
            <a:ext cx="1834751" cy="90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DD6F84D-C286-08E4-9663-C2C01833A943}"/>
              </a:ext>
            </a:extLst>
          </p:cNvPr>
          <p:cNvSpPr/>
          <p:nvPr/>
        </p:nvSpPr>
        <p:spPr>
          <a:xfrm>
            <a:off x="4834197" y="5888768"/>
            <a:ext cx="1922208" cy="698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Encoders</a:t>
            </a:r>
            <a:endParaRPr lang="es-ES" sz="1600" dirty="0"/>
          </a:p>
          <a:p>
            <a:pPr algn="ctr"/>
            <a:r>
              <a:rPr lang="es-ES" sz="1600" dirty="0"/>
              <a:t>cuadratura</a:t>
            </a:r>
            <a:endParaRPr lang="en-US" sz="16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1D0F49-BE1B-A965-1054-EC0FE6D2F3DB}"/>
              </a:ext>
            </a:extLst>
          </p:cNvPr>
          <p:cNvSpPr/>
          <p:nvPr/>
        </p:nvSpPr>
        <p:spPr>
          <a:xfrm>
            <a:off x="9719667" y="5888767"/>
            <a:ext cx="1922208" cy="6988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Motor DC + L298N</a:t>
            </a:r>
            <a:endParaRPr lang="en-US" sz="1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48069D4-A6F6-7D6A-2075-08B69EC1B8FF}"/>
              </a:ext>
            </a:extLst>
          </p:cNvPr>
          <p:cNvCxnSpPr>
            <a:cxnSpLocks/>
          </p:cNvCxnSpPr>
          <p:nvPr/>
        </p:nvCxnSpPr>
        <p:spPr>
          <a:xfrm flipH="1" flipV="1">
            <a:off x="5795301" y="5028355"/>
            <a:ext cx="282" cy="860413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B7C64DB-35BD-D141-E96F-175C69D26898}"/>
              </a:ext>
            </a:extLst>
          </p:cNvPr>
          <p:cNvCxnSpPr>
            <a:stCxn id="22" idx="2"/>
            <a:endCxn id="35" idx="0"/>
          </p:cNvCxnSpPr>
          <p:nvPr/>
        </p:nvCxnSpPr>
        <p:spPr>
          <a:xfrm>
            <a:off x="10680771" y="5028354"/>
            <a:ext cx="0" cy="860413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1CED76-A994-DDFE-7263-2B91CAA4C974}"/>
              </a:ext>
            </a:extLst>
          </p:cNvPr>
          <p:cNvCxnSpPr/>
          <p:nvPr/>
        </p:nvCxnSpPr>
        <p:spPr>
          <a:xfrm>
            <a:off x="315249" y="6033402"/>
            <a:ext cx="953729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5DD6E5E-A8D4-1735-053A-BAE1FF7A292C}"/>
              </a:ext>
            </a:extLst>
          </p:cNvPr>
          <p:cNvCxnSpPr/>
          <p:nvPr/>
        </p:nvCxnSpPr>
        <p:spPr>
          <a:xfrm>
            <a:off x="315249" y="6207164"/>
            <a:ext cx="953729" cy="0"/>
          </a:xfrm>
          <a:prstGeom prst="straightConnector1">
            <a:avLst/>
          </a:prstGeom>
          <a:ln w="28575"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A81B085-9204-DD74-F463-1C9F78342937}"/>
              </a:ext>
            </a:extLst>
          </p:cNvPr>
          <p:cNvSpPr/>
          <p:nvPr/>
        </p:nvSpPr>
        <p:spPr>
          <a:xfrm>
            <a:off x="9851343" y="3333220"/>
            <a:ext cx="1332906" cy="28305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Establecer velocidades</a:t>
            </a:r>
          </a:p>
          <a:p>
            <a:pPr algn="ctr"/>
            <a:r>
              <a:rPr lang="es-ES" sz="900" dirty="0" err="1">
                <a:solidFill>
                  <a:schemeClr val="tx1"/>
                </a:solidFill>
              </a:rPr>
              <a:t>setMotorSpeeds</a:t>
            </a:r>
            <a:r>
              <a:rPr lang="es-ES" sz="900" dirty="0">
                <a:solidFill>
                  <a:schemeClr val="tx1"/>
                </a:solidFill>
              </a:rPr>
              <a:t>()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BF410F-CB99-B17E-BF73-68B71553D56B}"/>
              </a:ext>
            </a:extLst>
          </p:cNvPr>
          <p:cNvSpPr/>
          <p:nvPr/>
        </p:nvSpPr>
        <p:spPr>
          <a:xfrm>
            <a:off x="3059744" y="3252835"/>
            <a:ext cx="1253473" cy="335026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Comunicación Serial USB (57600 </a:t>
            </a:r>
            <a:r>
              <a:rPr lang="es-ES" sz="900" dirty="0" err="1">
                <a:solidFill>
                  <a:schemeClr val="tx1"/>
                </a:solidFill>
              </a:rPr>
              <a:t>baud</a:t>
            </a:r>
            <a:r>
              <a:rPr lang="es-ES" sz="900" dirty="0">
                <a:solidFill>
                  <a:schemeClr val="tx1"/>
                </a:solidFill>
              </a:rPr>
              <a:t>)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4407F51-DE8F-FE97-42C0-091AC6D290DE}"/>
              </a:ext>
            </a:extLst>
          </p:cNvPr>
          <p:cNvSpPr/>
          <p:nvPr/>
        </p:nvSpPr>
        <p:spPr>
          <a:xfrm>
            <a:off x="3002349" y="2409032"/>
            <a:ext cx="1393809" cy="335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Contadores de </a:t>
            </a:r>
            <a:r>
              <a:rPr lang="es-ES" sz="900" dirty="0" err="1">
                <a:solidFill>
                  <a:schemeClr val="tx1"/>
                </a:solidFill>
              </a:rPr>
              <a:t>encoder</a:t>
            </a:r>
            <a:endParaRPr lang="es-E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"e\r" → "&lt;</a:t>
            </a:r>
            <a:r>
              <a:rPr lang="en-US" sz="900" dirty="0" err="1">
                <a:solidFill>
                  <a:schemeClr val="tx1"/>
                </a:solidFill>
              </a:rPr>
              <a:t>encL</a:t>
            </a:r>
            <a:r>
              <a:rPr lang="en-US" sz="900" dirty="0">
                <a:solidFill>
                  <a:schemeClr val="tx1"/>
                </a:solidFill>
              </a:rPr>
              <a:t>&gt; &lt;</a:t>
            </a:r>
            <a:r>
              <a:rPr lang="en-US" sz="900" dirty="0" err="1">
                <a:solidFill>
                  <a:schemeClr val="tx1"/>
                </a:solidFill>
              </a:rPr>
              <a:t>encR</a:t>
            </a:r>
            <a:r>
              <a:rPr lang="en-US" sz="900" dirty="0">
                <a:solidFill>
                  <a:schemeClr val="tx1"/>
                </a:solidFill>
              </a:rPr>
              <a:t>&gt;"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198FABF-42B4-CDF6-F885-F5127BFD5E5A}"/>
              </a:ext>
            </a:extLst>
          </p:cNvPr>
          <p:cNvSpPr/>
          <p:nvPr/>
        </p:nvSpPr>
        <p:spPr>
          <a:xfrm>
            <a:off x="2964586" y="4054354"/>
            <a:ext cx="1449013" cy="335026"/>
          </a:xfrm>
          <a:prstGeom prst="rect">
            <a:avLst/>
          </a:prstGeom>
          <a:solidFill>
            <a:srgbClr val="FFB3B3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Envio de comandos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</a:rPr>
              <a:t>"m &lt;</a:t>
            </a:r>
            <a:r>
              <a:rPr lang="es-ES" sz="900" dirty="0" err="1">
                <a:solidFill>
                  <a:schemeClr val="tx1"/>
                </a:solidFill>
              </a:rPr>
              <a:t>ticks_L</a:t>
            </a:r>
            <a:r>
              <a:rPr lang="es-ES" sz="900" dirty="0">
                <a:solidFill>
                  <a:schemeClr val="tx1"/>
                </a:solidFill>
              </a:rPr>
              <a:t>&gt; &lt;</a:t>
            </a:r>
            <a:r>
              <a:rPr lang="es-ES" sz="900" dirty="0" err="1">
                <a:solidFill>
                  <a:schemeClr val="tx1"/>
                </a:solidFill>
              </a:rPr>
              <a:t>ticks_R</a:t>
            </a:r>
            <a:r>
              <a:rPr lang="es-ES" sz="900" dirty="0">
                <a:solidFill>
                  <a:schemeClr val="tx1"/>
                </a:solidFill>
              </a:rPr>
              <a:t>&gt;\r"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B25C02-8C7E-BE5C-74BB-8AC49F7890B0}"/>
              </a:ext>
            </a:extLst>
          </p:cNvPr>
          <p:cNvSpPr/>
          <p:nvPr/>
        </p:nvSpPr>
        <p:spPr>
          <a:xfrm>
            <a:off x="6448334" y="1286404"/>
            <a:ext cx="1339306" cy="316874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Definición de comandos disponibles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8ACC529C-CFF9-ACF0-D61D-B89D24712FB1}"/>
              </a:ext>
            </a:extLst>
          </p:cNvPr>
          <p:cNvCxnSpPr>
            <a:cxnSpLocks/>
          </p:cNvCxnSpPr>
          <p:nvPr/>
        </p:nvCxnSpPr>
        <p:spPr>
          <a:xfrm rot="5400000">
            <a:off x="8312481" y="1791617"/>
            <a:ext cx="1255211" cy="1303988"/>
          </a:xfrm>
          <a:prstGeom prst="curvedConnector3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B700F75-E97E-CF98-D816-B6D5D9FFCB25}"/>
              </a:ext>
            </a:extLst>
          </p:cNvPr>
          <p:cNvSpPr/>
          <p:nvPr/>
        </p:nvSpPr>
        <p:spPr>
          <a:xfrm>
            <a:off x="7995614" y="2293733"/>
            <a:ext cx="2068544" cy="29354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Envio de movimiento - updatePID()</a:t>
            </a:r>
          </a:p>
          <a:p>
            <a:pPr algn="ctr"/>
            <a:r>
              <a:rPr lang="es-ES" sz="900" noProof="0" dirty="0">
                <a:solidFill>
                  <a:schemeClr val="tx1"/>
                </a:solidFill>
              </a:rPr>
              <a:t>Detención</a:t>
            </a:r>
            <a:r>
              <a:rPr lang="en-US" sz="900" dirty="0">
                <a:solidFill>
                  <a:schemeClr val="tx1"/>
                </a:solidFill>
              </a:rPr>
              <a:t> del </a:t>
            </a:r>
            <a:r>
              <a:rPr lang="en-US" sz="900" dirty="0" err="1">
                <a:solidFill>
                  <a:schemeClr val="tx1"/>
                </a:solidFill>
              </a:rPr>
              <a:t>movimiento</a:t>
            </a:r>
            <a:r>
              <a:rPr lang="en-US" sz="900" dirty="0">
                <a:solidFill>
                  <a:schemeClr val="tx1"/>
                </a:solidFill>
              </a:rPr>
              <a:t> - </a:t>
            </a:r>
            <a:r>
              <a:rPr lang="en-US" sz="900" dirty="0" err="1">
                <a:solidFill>
                  <a:schemeClr val="tx1"/>
                </a:solidFill>
              </a:rPr>
              <a:t>resetPID</a:t>
            </a:r>
            <a:r>
              <a:rPr lang="en-US" sz="9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EFB499F-926A-5D97-AF5D-731A1BA5F152}"/>
              </a:ext>
            </a:extLst>
          </p:cNvPr>
          <p:cNvSpPr/>
          <p:nvPr/>
        </p:nvSpPr>
        <p:spPr>
          <a:xfrm>
            <a:off x="5438140" y="3268890"/>
            <a:ext cx="1192159" cy="320217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Lectura de </a:t>
            </a:r>
            <a:r>
              <a:rPr lang="es-ES" sz="900" dirty="0" err="1">
                <a:solidFill>
                  <a:schemeClr val="tx1"/>
                </a:solidFill>
              </a:rPr>
              <a:t>encoder</a:t>
            </a:r>
            <a:endParaRPr lang="es-ES" sz="900" dirty="0">
              <a:solidFill>
                <a:schemeClr val="tx1"/>
              </a:solidFill>
            </a:endParaRPr>
          </a:p>
          <a:p>
            <a:pPr algn="ctr"/>
            <a:r>
              <a:rPr lang="es-ES" sz="900" dirty="0" err="1">
                <a:solidFill>
                  <a:schemeClr val="tx1"/>
                </a:solidFill>
              </a:rPr>
              <a:t>readEncoder</a:t>
            </a:r>
            <a:r>
              <a:rPr lang="es-ES" sz="9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1017005-C9BB-3AF3-2AD2-359731607107}"/>
              </a:ext>
            </a:extLst>
          </p:cNvPr>
          <p:cNvSpPr/>
          <p:nvPr/>
        </p:nvSpPr>
        <p:spPr>
          <a:xfrm>
            <a:off x="5034163" y="5308815"/>
            <a:ext cx="1522275" cy="320217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Captura de interrupciones de pulsos de </a:t>
            </a:r>
            <a:r>
              <a:rPr lang="es-ES" sz="900" dirty="0" err="1">
                <a:solidFill>
                  <a:schemeClr val="tx1"/>
                </a:solidFill>
              </a:rPr>
              <a:t>encoder</a:t>
            </a:r>
            <a:endParaRPr lang="es-ES" sz="9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F0A37F4-71FF-969A-B2FE-4B061BFF653E}"/>
              </a:ext>
            </a:extLst>
          </p:cNvPr>
          <p:cNvSpPr/>
          <p:nvPr/>
        </p:nvSpPr>
        <p:spPr>
          <a:xfrm>
            <a:off x="10050341" y="5349007"/>
            <a:ext cx="1260862" cy="28305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Envio de PWM + dirección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D350674-D629-0CF3-E164-C7E576E26722}"/>
              </a:ext>
            </a:extLst>
          </p:cNvPr>
          <p:cNvSpPr/>
          <p:nvPr/>
        </p:nvSpPr>
        <p:spPr>
          <a:xfrm>
            <a:off x="453389" y="1006649"/>
            <a:ext cx="2022478" cy="6689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 err="1"/>
              <a:t>diff_drive_controller</a:t>
            </a:r>
            <a:r>
              <a:rPr lang="en-US" sz="1600" noProof="0" dirty="0"/>
              <a:t>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2471321-4C04-75B4-CC33-303CCE2AF8D5}"/>
              </a:ext>
            </a:extLst>
          </p:cNvPr>
          <p:cNvCxnSpPr>
            <a:cxnSpLocks/>
          </p:cNvCxnSpPr>
          <p:nvPr/>
        </p:nvCxnSpPr>
        <p:spPr>
          <a:xfrm>
            <a:off x="848763" y="1675571"/>
            <a:ext cx="0" cy="1426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87A97203-3537-678C-B27E-3D25BEF91754}"/>
              </a:ext>
            </a:extLst>
          </p:cNvPr>
          <p:cNvSpPr/>
          <p:nvPr/>
        </p:nvSpPr>
        <p:spPr>
          <a:xfrm>
            <a:off x="95172" y="2105215"/>
            <a:ext cx="1355009" cy="49126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Envio de comando velocidades.</a:t>
            </a:r>
          </a:p>
          <a:p>
            <a:pPr algn="ctr"/>
            <a:r>
              <a:rPr lang="pt-BR" sz="900" dirty="0">
                <a:solidFill>
                  <a:schemeClr val="tx1"/>
                </a:solidFill>
              </a:rPr>
              <a:t>cmd (rad/s por rueda)</a:t>
            </a:r>
            <a:endParaRPr lang="es-ES" sz="900" dirty="0">
              <a:solidFill>
                <a:schemeClr val="tx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AAEE743-70D2-9C12-7280-59B0F900A2A2}"/>
              </a:ext>
            </a:extLst>
          </p:cNvPr>
          <p:cNvCxnSpPr>
            <a:cxnSpLocks/>
          </p:cNvCxnSpPr>
          <p:nvPr/>
        </p:nvCxnSpPr>
        <p:spPr>
          <a:xfrm flipV="1">
            <a:off x="2017163" y="1675571"/>
            <a:ext cx="0" cy="1463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7B58123C-8631-5690-D088-85B9350CF8A0}"/>
              </a:ext>
            </a:extLst>
          </p:cNvPr>
          <p:cNvSpPr/>
          <p:nvPr/>
        </p:nvSpPr>
        <p:spPr>
          <a:xfrm>
            <a:off x="1500694" y="2105215"/>
            <a:ext cx="1269169" cy="478556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Envio de datos de </a:t>
            </a:r>
            <a:r>
              <a:rPr lang="es-ES" sz="900" dirty="0" err="1">
                <a:solidFill>
                  <a:schemeClr val="tx1"/>
                </a:solidFill>
              </a:rPr>
              <a:t>odometria</a:t>
            </a:r>
            <a:r>
              <a:rPr lang="es-ES" sz="900" dirty="0">
                <a:solidFill>
                  <a:schemeClr val="tx1"/>
                </a:solidFill>
              </a:rPr>
              <a:t> (</a:t>
            </a:r>
            <a:r>
              <a:rPr lang="es-ES" sz="900" dirty="0" err="1">
                <a:solidFill>
                  <a:schemeClr val="tx1"/>
                </a:solidFill>
              </a:rPr>
              <a:t>odom</a:t>
            </a:r>
            <a:r>
              <a:rPr lang="es-ES" sz="900" dirty="0">
                <a:solidFill>
                  <a:schemeClr val="tx1"/>
                </a:solidFill>
              </a:rPr>
              <a:t>).</a:t>
            </a:r>
          </a:p>
          <a:p>
            <a:pPr algn="ctr"/>
            <a:r>
              <a:rPr lang="nn-NO" sz="900" dirty="0">
                <a:solidFill>
                  <a:schemeClr val="tx1"/>
                </a:solidFill>
              </a:rPr>
              <a:t>pos (rad) + vel (rad/s)</a:t>
            </a:r>
            <a:endParaRPr lang="es-ES" sz="900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49655D8-1177-54F8-1C24-616C683428B1}"/>
              </a:ext>
            </a:extLst>
          </p:cNvPr>
          <p:cNvSpPr txBox="1"/>
          <p:nvPr/>
        </p:nvSpPr>
        <p:spPr>
          <a:xfrm>
            <a:off x="1241619" y="5917260"/>
            <a:ext cx="19714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Flujo de datos en ejecución</a:t>
            </a:r>
          </a:p>
          <a:p>
            <a:r>
              <a:rPr lang="es-ES" sz="1100" dirty="0"/>
              <a:t>Dependencia de compilación</a:t>
            </a:r>
          </a:p>
          <a:p>
            <a:r>
              <a:rPr lang="es-ES" sz="1100" dirty="0"/>
              <a:t>Señales eléctricas</a:t>
            </a:r>
            <a:endParaRPr lang="en-US" sz="1100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414CD11-B9FF-4D0C-BCB3-D7847C05D05D}"/>
              </a:ext>
            </a:extLst>
          </p:cNvPr>
          <p:cNvCxnSpPr/>
          <p:nvPr/>
        </p:nvCxnSpPr>
        <p:spPr>
          <a:xfrm>
            <a:off x="315249" y="6373658"/>
            <a:ext cx="953729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cono de Nodo Generic gradient fill | Freepik">
            <a:extLst>
              <a:ext uri="{FF2B5EF4-FFF2-40B4-BE49-F238E27FC236}">
                <a16:creationId xmlns:a16="http://schemas.microsoft.com/office/drawing/2014/main" id="{81856AAE-F0CD-68DE-04C7-B27FE6708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21812" y="824598"/>
            <a:ext cx="344493" cy="34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Icono de Nodo Generic gradient fill | Freepik">
            <a:extLst>
              <a:ext uri="{FF2B5EF4-FFF2-40B4-BE49-F238E27FC236}">
                <a16:creationId xmlns:a16="http://schemas.microsoft.com/office/drawing/2014/main" id="{D0223AE7-AC50-1DF9-C764-557EBD791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67770" y="2929979"/>
            <a:ext cx="344493" cy="34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scarga Archivo Ino Icon Free en SVG, PNG para Archivos y carpetas |  IconScout">
            <a:extLst>
              <a:ext uri="{FF2B5EF4-FFF2-40B4-BE49-F238E27FC236}">
                <a16:creationId xmlns:a16="http://schemas.microsoft.com/office/drawing/2014/main" id="{EEE5D093-743B-D66C-1ABB-5F7E2400D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320" y="571525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an Encoder?">
            <a:extLst>
              <a:ext uri="{FF2B5EF4-FFF2-40B4-BE49-F238E27FC236}">
                <a16:creationId xmlns:a16="http://schemas.microsoft.com/office/drawing/2014/main" id="{C07DC630-FB10-F29E-FCFE-08A29BB8A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173" y="5703349"/>
            <a:ext cx="399802" cy="39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scarga Archivo Ino Icon Free en SVG, PNG para Archivos y carpetas |  IconScout">
            <a:extLst>
              <a:ext uri="{FF2B5EF4-FFF2-40B4-BE49-F238E27FC236}">
                <a16:creationId xmlns:a16="http://schemas.microsoft.com/office/drawing/2014/main" id="{149EEDC7-9D8F-5934-6742-4F21F79C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577" y="873341"/>
            <a:ext cx="422868" cy="4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tor - Iconos gratis de electrónica">
            <a:extLst>
              <a:ext uri="{FF2B5EF4-FFF2-40B4-BE49-F238E27FC236}">
                <a16:creationId xmlns:a16="http://schemas.microsoft.com/office/drawing/2014/main" id="{5E70C08D-7FB2-FDB5-6A48-326C81781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547" y="5547432"/>
            <a:ext cx="698847" cy="6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ile - Free seo and web icons">
            <a:extLst>
              <a:ext uri="{FF2B5EF4-FFF2-40B4-BE49-F238E27FC236}">
                <a16:creationId xmlns:a16="http://schemas.microsoft.com/office/drawing/2014/main" id="{E753E375-844D-800F-E870-C4B0CD3EE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76" y="838432"/>
            <a:ext cx="458651" cy="4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8" descr="File - Free seo and web icons">
            <a:extLst>
              <a:ext uri="{FF2B5EF4-FFF2-40B4-BE49-F238E27FC236}">
                <a16:creationId xmlns:a16="http://schemas.microsoft.com/office/drawing/2014/main" id="{30BCE4AB-0511-F6FC-BC01-0A5979343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297" y="2871334"/>
            <a:ext cx="458651" cy="4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18" descr="File - Free seo and web icons">
            <a:extLst>
              <a:ext uri="{FF2B5EF4-FFF2-40B4-BE49-F238E27FC236}">
                <a16:creationId xmlns:a16="http://schemas.microsoft.com/office/drawing/2014/main" id="{6AEAB410-041E-604A-CD7B-7F5960D04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408" y="4091370"/>
            <a:ext cx="458651" cy="4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8" descr="File - Free seo and web icons">
            <a:extLst>
              <a:ext uri="{FF2B5EF4-FFF2-40B4-BE49-F238E27FC236}">
                <a16:creationId xmlns:a16="http://schemas.microsoft.com/office/drawing/2014/main" id="{377AE51B-289F-8756-D548-6C0FDE7E6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700" y="4085799"/>
            <a:ext cx="458651" cy="4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574D8832-751D-19A3-95C5-AF8BFEC56A74}"/>
              </a:ext>
            </a:extLst>
          </p:cNvPr>
          <p:cNvSpPr/>
          <p:nvPr/>
        </p:nvSpPr>
        <p:spPr>
          <a:xfrm>
            <a:off x="4614549" y="2096726"/>
            <a:ext cx="1888944" cy="624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PID_RATE = 30 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ENC_TICKS_PER_REV = 1980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WHEEL_DIAMETER = 0.067 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AUTO_STOP = 2000 </a:t>
            </a:r>
            <a:r>
              <a:rPr lang="en-US" sz="900" dirty="0" err="1">
                <a:solidFill>
                  <a:schemeClr val="tx1"/>
                </a:solidFill>
              </a:rPr>
              <a:t>ms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81D1436C-DD2B-D50F-4B9C-C4023CD1EE43}"/>
              </a:ext>
            </a:extLst>
          </p:cNvPr>
          <p:cNvCxnSpPr>
            <a:stCxn id="111" idx="3"/>
          </p:cNvCxnSpPr>
          <p:nvPr/>
        </p:nvCxnSpPr>
        <p:spPr>
          <a:xfrm flipV="1">
            <a:off x="6503493" y="1699260"/>
            <a:ext cx="2068545" cy="709772"/>
          </a:xfrm>
          <a:prstGeom prst="curvedConnector3">
            <a:avLst/>
          </a:prstGeom>
          <a:ln w="190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01157E27-78D6-8FB9-32EB-AC15339D53F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793355" y="1474942"/>
            <a:ext cx="617345" cy="283864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01A013-73E7-339E-F2D4-2C787B52F072}"/>
              </a:ext>
            </a:extLst>
          </p:cNvPr>
          <p:cNvSpPr/>
          <p:nvPr/>
        </p:nvSpPr>
        <p:spPr>
          <a:xfrm>
            <a:off x="10474961" y="2596484"/>
            <a:ext cx="1569720" cy="283058"/>
          </a:xfrm>
          <a:prstGeom prst="rect">
            <a:avLst/>
          </a:prstGeom>
          <a:solidFill>
            <a:schemeClr val="bg1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i="1" dirty="0">
                <a:solidFill>
                  <a:schemeClr val="tx1"/>
                </a:solidFill>
              </a:rPr>
              <a:t>Establecer velocidades</a:t>
            </a:r>
          </a:p>
          <a:p>
            <a:pPr algn="ctr"/>
            <a:r>
              <a:rPr lang="es-ES" sz="900" i="1" dirty="0" err="1">
                <a:solidFill>
                  <a:schemeClr val="tx1"/>
                </a:solidFill>
              </a:rPr>
              <a:t>setMotorSpeeds</a:t>
            </a:r>
            <a:r>
              <a:rPr lang="es-ES" sz="900" i="1" dirty="0">
                <a:solidFill>
                  <a:schemeClr val="tx1"/>
                </a:solidFill>
              </a:rPr>
              <a:t>() para test</a:t>
            </a:r>
            <a:endParaRPr lang="en-US" sz="900" i="1" dirty="0">
              <a:solidFill>
                <a:schemeClr val="tx1"/>
              </a:solidFill>
            </a:endParaRPr>
          </a:p>
        </p:txBody>
      </p:sp>
      <p:pic>
        <p:nvPicPr>
          <p:cNvPr id="3" name="Picture 8" descr="Descarga Archivo Ino Icon Free en SVG, PNG para Archivos y carpetas |  IconScout">
            <a:extLst>
              <a:ext uri="{FF2B5EF4-FFF2-40B4-BE49-F238E27FC236}">
                <a16:creationId xmlns:a16="http://schemas.microsoft.com/office/drawing/2014/main" id="{14C36961-26DC-B7A5-82C7-A4B7AFFF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40" y="4612678"/>
            <a:ext cx="422868" cy="4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Descarga Archivo Ino Icon Free en SVG, PNG para Archivos y carpetas |  IconScout">
            <a:extLst>
              <a:ext uri="{FF2B5EF4-FFF2-40B4-BE49-F238E27FC236}">
                <a16:creationId xmlns:a16="http://schemas.microsoft.com/office/drawing/2014/main" id="{429575BD-A82B-9642-CF4C-06E0AE479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483" y="4596998"/>
            <a:ext cx="422868" cy="4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68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183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Alexis Valderas Neculqueo</cp:lastModifiedBy>
  <cp:revision>12</cp:revision>
  <dcterms:created xsi:type="dcterms:W3CDTF">2026-03-07T16:12:46Z</dcterms:created>
  <dcterms:modified xsi:type="dcterms:W3CDTF">2026-03-07T23:49:46Z</dcterms:modified>
</cp:coreProperties>
</file>