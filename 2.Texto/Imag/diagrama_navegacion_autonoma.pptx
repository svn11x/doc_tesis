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8D9"/>
    <a:srgbClr val="185D3D"/>
    <a:srgbClr val="282828"/>
    <a:srgbClr val="C1C1C2"/>
    <a:srgbClr val="277E56"/>
    <a:srgbClr val="ED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11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589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ounded Rectangle 1">
            <a:extLst>
              <a:ext uri="{FF2B5EF4-FFF2-40B4-BE49-F238E27FC236}">
                <a16:creationId xmlns:a16="http://schemas.microsoft.com/office/drawing/2014/main" id="{005226AF-90F1-4FAE-C0FB-4047A1727F91}"/>
              </a:ext>
            </a:extLst>
          </p:cNvPr>
          <p:cNvSpPr/>
          <p:nvPr/>
        </p:nvSpPr>
        <p:spPr>
          <a:xfrm>
            <a:off x="729488" y="146304"/>
            <a:ext cx="3493008" cy="1243584"/>
          </a:xfrm>
          <a:prstGeom prst="roundRect">
            <a:avLst>
              <a:gd name="adj" fmla="val 3595"/>
            </a:avLst>
          </a:prstGeom>
          <a:noFill/>
          <a:ln w="19050">
            <a:solidFill>
              <a:srgbClr val="8258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685AB49-51F3-B800-4169-36B15A313C36}"/>
              </a:ext>
            </a:extLst>
          </p:cNvPr>
          <p:cNvSpPr txBox="1"/>
          <p:nvPr/>
        </p:nvSpPr>
        <p:spPr>
          <a:xfrm>
            <a:off x="1777390" y="128016"/>
            <a:ext cx="1397203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8258C4"/>
                </a:solidFill>
                <a:latin typeface="Calibri"/>
              </a:rPr>
              <a:t>OPERADOR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76BE8CA3-C4A9-94BF-99B8-7583033182CB}"/>
              </a:ext>
            </a:extLst>
          </p:cNvPr>
          <p:cNvSpPr/>
          <p:nvPr/>
        </p:nvSpPr>
        <p:spPr>
          <a:xfrm>
            <a:off x="4892801" y="146304"/>
            <a:ext cx="2582113" cy="1243584"/>
          </a:xfrm>
          <a:prstGeom prst="rect">
            <a:avLst/>
          </a:prstGeom>
          <a:noFill/>
          <a:ln w="19050">
            <a:solidFill>
              <a:srgbClr val="3C69D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7129112-E281-6380-0E48-EB4F7D7AD3F8}"/>
              </a:ext>
            </a:extLst>
          </p:cNvPr>
          <p:cNvSpPr txBox="1"/>
          <p:nvPr/>
        </p:nvSpPr>
        <p:spPr>
          <a:xfrm>
            <a:off x="5039462" y="191018"/>
            <a:ext cx="2371257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3C69DC"/>
                </a:solidFill>
              </a:rPr>
              <a:t>ROBOT FÍSICO - </a:t>
            </a:r>
            <a:r>
              <a:rPr lang="en-US" sz="1400" b="1" dirty="0" err="1">
                <a:solidFill>
                  <a:srgbClr val="3C69DC"/>
                </a:solidFill>
              </a:rPr>
              <a:t>Percepción</a:t>
            </a:r>
            <a:r>
              <a:rPr lang="en-US" sz="1400" b="1" dirty="0">
                <a:solidFill>
                  <a:srgbClr val="3C69DC"/>
                </a:solidFill>
              </a:rPr>
              <a:t> </a:t>
            </a:r>
            <a:r>
              <a:rPr sz="1400" b="1" dirty="0">
                <a:solidFill>
                  <a:srgbClr val="3C69DC"/>
                </a:solidFill>
                <a:latin typeface="Calibri"/>
              </a:rPr>
              <a:t> 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9A72B605-325C-BBAB-C753-88B99A069B9A}"/>
              </a:ext>
            </a:extLst>
          </p:cNvPr>
          <p:cNvSpPr/>
          <p:nvPr/>
        </p:nvSpPr>
        <p:spPr>
          <a:xfrm>
            <a:off x="1305558" y="1627632"/>
            <a:ext cx="11437889" cy="4946904"/>
          </a:xfrm>
          <a:prstGeom prst="rect">
            <a:avLst/>
          </a:prstGeom>
          <a:noFill/>
          <a:ln w="19050">
            <a:solidFill>
              <a:srgbClr val="277E5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C512D1F-CC7E-F5D3-0EBD-873A54FB3452}"/>
              </a:ext>
            </a:extLst>
          </p:cNvPr>
          <p:cNvSpPr txBox="1"/>
          <p:nvPr/>
        </p:nvSpPr>
        <p:spPr>
          <a:xfrm>
            <a:off x="7474915" y="1672082"/>
            <a:ext cx="4576389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77E56"/>
                </a:solidFill>
                <a:latin typeface="Calibri"/>
              </a:rPr>
              <a:t>COMPUTACIÓN ROS 2 (ESTACIÓN/PC)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E66237D-8EE1-072D-7146-88DDB57329F6}"/>
              </a:ext>
            </a:extLst>
          </p:cNvPr>
          <p:cNvSpPr/>
          <p:nvPr/>
        </p:nvSpPr>
        <p:spPr>
          <a:xfrm>
            <a:off x="729487" y="6707458"/>
            <a:ext cx="12013959" cy="2317670"/>
          </a:xfrm>
          <a:prstGeom prst="rect">
            <a:avLst/>
          </a:prstGeom>
          <a:noFill/>
          <a:ln w="19050">
            <a:solidFill>
              <a:srgbClr val="3C69D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F42585F-0439-8E0B-B91F-9082D68C834B}"/>
              </a:ext>
            </a:extLst>
          </p:cNvPr>
          <p:cNvSpPr txBox="1"/>
          <p:nvPr/>
        </p:nvSpPr>
        <p:spPr>
          <a:xfrm>
            <a:off x="8852589" y="6748822"/>
            <a:ext cx="4554809" cy="3231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3C69DC"/>
                </a:solidFill>
                <a:latin typeface="Calibri"/>
              </a:rPr>
              <a:t>ROBOT FÍSICO</a:t>
            </a:r>
            <a:r>
              <a:rPr lang="es-ES" sz="1500" b="1" dirty="0">
                <a:solidFill>
                  <a:srgbClr val="3C69DC"/>
                </a:solidFill>
                <a:latin typeface="Calibri"/>
              </a:rPr>
              <a:t> - Actuación </a:t>
            </a:r>
            <a:endParaRPr sz="1500" b="1" dirty="0">
              <a:solidFill>
                <a:srgbClr val="3C69DC"/>
              </a:solidFill>
              <a:latin typeface="Calibri"/>
            </a:endParaRPr>
          </a:p>
        </p:txBody>
      </p:sp>
      <p:sp>
        <p:nvSpPr>
          <p:cNvPr id="215" name="Rounded Rectangle 9">
            <a:extLst>
              <a:ext uri="{FF2B5EF4-FFF2-40B4-BE49-F238E27FC236}">
                <a16:creationId xmlns:a16="http://schemas.microsoft.com/office/drawing/2014/main" id="{AC020B26-1058-DC27-91F3-EB04CE60921D}"/>
              </a:ext>
            </a:extLst>
          </p:cNvPr>
          <p:cNvSpPr/>
          <p:nvPr/>
        </p:nvSpPr>
        <p:spPr>
          <a:xfrm>
            <a:off x="875792" y="438912"/>
            <a:ext cx="1719072" cy="676656"/>
          </a:xfrm>
          <a:prstGeom prst="roundRect">
            <a:avLst/>
          </a:prstGeom>
          <a:solidFill>
            <a:srgbClr val="F8F3FF"/>
          </a:solidFill>
          <a:ln w="15240">
            <a:solidFill>
              <a:srgbClr val="825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523791"/>
                </a:solidFill>
                <a:latin typeface="Calibri"/>
              </a:rPr>
              <a:t>Joystick / Gamepad</a:t>
            </a:r>
          </a:p>
          <a:p>
            <a:pPr algn="ctr"/>
            <a:r>
              <a:rPr sz="1000">
                <a:solidFill>
                  <a:srgbClr val="523791"/>
                </a:solidFill>
                <a:latin typeface="Calibri"/>
              </a:rPr>
              <a:t>Teleoperación manual</a:t>
            </a:r>
          </a:p>
        </p:txBody>
      </p:sp>
      <p:sp>
        <p:nvSpPr>
          <p:cNvPr id="216" name="Rounded Rectangle 10">
            <a:extLst>
              <a:ext uri="{FF2B5EF4-FFF2-40B4-BE49-F238E27FC236}">
                <a16:creationId xmlns:a16="http://schemas.microsoft.com/office/drawing/2014/main" id="{DED8ABF3-5ACD-5C9C-6856-7726F1AA0E4A}"/>
              </a:ext>
            </a:extLst>
          </p:cNvPr>
          <p:cNvSpPr/>
          <p:nvPr/>
        </p:nvSpPr>
        <p:spPr>
          <a:xfrm>
            <a:off x="2704592" y="438912"/>
            <a:ext cx="1316736" cy="676656"/>
          </a:xfrm>
          <a:prstGeom prst="roundRect">
            <a:avLst/>
          </a:prstGeom>
          <a:solidFill>
            <a:srgbClr val="F8F3FF"/>
          </a:solidFill>
          <a:ln w="15240">
            <a:solidFill>
              <a:srgbClr val="825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523791"/>
                </a:solidFill>
                <a:latin typeface="Calibri"/>
              </a:rPr>
              <a:t>RViz2</a:t>
            </a:r>
          </a:p>
          <a:p>
            <a:pPr algn="ctr"/>
            <a:r>
              <a:rPr sz="1000">
                <a:solidFill>
                  <a:srgbClr val="523791"/>
                </a:solidFill>
                <a:latin typeface="Calibri"/>
              </a:rPr>
              <a:t>Supervisión y</a:t>
            </a:r>
          </a:p>
          <a:p>
            <a:pPr algn="ctr"/>
            <a:r>
              <a:rPr sz="1000">
                <a:solidFill>
                  <a:srgbClr val="523791"/>
                </a:solidFill>
                <a:latin typeface="Calibri"/>
              </a:rPr>
              <a:t>visualización</a:t>
            </a:r>
          </a:p>
        </p:txBody>
      </p:sp>
      <p:sp>
        <p:nvSpPr>
          <p:cNvPr id="217" name="Rounded Rectangle 11">
            <a:extLst>
              <a:ext uri="{FF2B5EF4-FFF2-40B4-BE49-F238E27FC236}">
                <a16:creationId xmlns:a16="http://schemas.microsoft.com/office/drawing/2014/main" id="{71E65483-B32A-1F1C-BD36-E43760546FFD}"/>
              </a:ext>
            </a:extLst>
          </p:cNvPr>
          <p:cNvSpPr/>
          <p:nvPr/>
        </p:nvSpPr>
        <p:spPr>
          <a:xfrm>
            <a:off x="5411216" y="530352"/>
            <a:ext cx="1408176" cy="640080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A49C0"/>
                </a:solidFill>
                <a:latin typeface="Calibri"/>
              </a:rPr>
              <a:t>RPLidar A1</a:t>
            </a:r>
          </a:p>
          <a:p>
            <a:pPr algn="ctr"/>
            <a:r>
              <a:rPr sz="1100">
                <a:solidFill>
                  <a:srgbClr val="1A49C0"/>
                </a:solidFill>
                <a:latin typeface="Calibri"/>
              </a:rPr>
              <a:t>LIDAR 2D</a:t>
            </a:r>
          </a:p>
        </p:txBody>
      </p:sp>
      <p:sp>
        <p:nvSpPr>
          <p:cNvPr id="218" name="Rounded Rectangle 13">
            <a:extLst>
              <a:ext uri="{FF2B5EF4-FFF2-40B4-BE49-F238E27FC236}">
                <a16:creationId xmlns:a16="http://schemas.microsoft.com/office/drawing/2014/main" id="{A4BC6031-F408-DBE3-3AAA-3C92FF9538A1}"/>
              </a:ext>
            </a:extLst>
          </p:cNvPr>
          <p:cNvSpPr/>
          <p:nvPr/>
        </p:nvSpPr>
        <p:spPr>
          <a:xfrm>
            <a:off x="2852928" y="2846832"/>
            <a:ext cx="2029968" cy="768096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185D3D"/>
                </a:solidFill>
                <a:latin typeface="Calibri"/>
              </a:rPr>
              <a:t>slam_toolbox</a:t>
            </a:r>
            <a:endParaRPr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lang="es-ES" sz="1100" dirty="0">
                <a:solidFill>
                  <a:srgbClr val="185D3D"/>
                </a:solidFill>
                <a:latin typeface="Calibri"/>
              </a:rPr>
              <a:t>SLAM 2D basado en grafo de poses</a:t>
            </a:r>
            <a:endParaRPr sz="1100" dirty="0">
              <a:solidFill>
                <a:srgbClr val="185D3D"/>
              </a:solidFill>
              <a:latin typeface="Calibri"/>
            </a:endParaRPr>
          </a:p>
        </p:txBody>
      </p:sp>
      <p:sp>
        <p:nvSpPr>
          <p:cNvPr id="219" name="Rounded Rectangle 14">
            <a:extLst>
              <a:ext uri="{FF2B5EF4-FFF2-40B4-BE49-F238E27FC236}">
                <a16:creationId xmlns:a16="http://schemas.microsoft.com/office/drawing/2014/main" id="{1408CD90-1111-9A04-269A-3D0B90A7A809}"/>
              </a:ext>
            </a:extLst>
          </p:cNvPr>
          <p:cNvSpPr/>
          <p:nvPr/>
        </p:nvSpPr>
        <p:spPr>
          <a:xfrm>
            <a:off x="7036038" y="2350008"/>
            <a:ext cx="1792224" cy="768096"/>
          </a:xfrm>
          <a:prstGeom prst="roundRect">
            <a:avLst/>
          </a:prstGeom>
          <a:solidFill>
            <a:srgbClr val="185D3D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Calibri"/>
              </a:rPr>
              <a:t>Costmaps</a:t>
            </a:r>
          </a:p>
          <a:p>
            <a:pPr algn="ctr"/>
            <a:r>
              <a:rPr sz="1100">
                <a:solidFill>
                  <a:schemeClr val="bg1"/>
                </a:solidFill>
                <a:latin typeface="Calibri"/>
              </a:rPr>
              <a:t>Global y local</a:t>
            </a:r>
          </a:p>
          <a:p>
            <a:pPr algn="ctr"/>
            <a:r>
              <a:rPr sz="1100">
                <a:solidFill>
                  <a:schemeClr val="bg1"/>
                </a:solidFill>
                <a:latin typeface="Calibri"/>
              </a:rPr>
              <a:t>(Inflación, obstáculos)</a:t>
            </a:r>
          </a:p>
        </p:txBody>
      </p:sp>
      <p:sp>
        <p:nvSpPr>
          <p:cNvPr id="220" name="Rounded Rectangle 15">
            <a:extLst>
              <a:ext uri="{FF2B5EF4-FFF2-40B4-BE49-F238E27FC236}">
                <a16:creationId xmlns:a16="http://schemas.microsoft.com/office/drawing/2014/main" id="{752FC2FA-3785-3EB1-A602-98743F7BB9E3}"/>
              </a:ext>
            </a:extLst>
          </p:cNvPr>
          <p:cNvSpPr/>
          <p:nvPr/>
        </p:nvSpPr>
        <p:spPr>
          <a:xfrm>
            <a:off x="1455775" y="5221224"/>
            <a:ext cx="1645920" cy="630936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dirty="0" err="1">
                <a:solidFill>
                  <a:srgbClr val="185D3D"/>
                </a:solidFill>
                <a:latin typeface="Calibri"/>
              </a:rPr>
              <a:t>explore_server</a:t>
            </a:r>
            <a:endParaRPr lang="en-US"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100" dirty="0" err="1">
                <a:solidFill>
                  <a:srgbClr val="185D3D"/>
                </a:solidFill>
                <a:latin typeface="Calibri"/>
              </a:rPr>
              <a:t>Exploración</a:t>
            </a:r>
            <a:r>
              <a:rPr sz="1100" dirty="0">
                <a:solidFill>
                  <a:srgbClr val="185D3D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85D3D"/>
                </a:solidFill>
                <a:latin typeface="Calibri"/>
              </a:rPr>
              <a:t>autónoma</a:t>
            </a:r>
            <a:endParaRPr sz="1100" dirty="0">
              <a:solidFill>
                <a:srgbClr val="185D3D"/>
              </a:solidFill>
              <a:latin typeface="Calibri"/>
            </a:endParaRPr>
          </a:p>
        </p:txBody>
      </p:sp>
      <p:sp>
        <p:nvSpPr>
          <p:cNvPr id="221" name="Rounded Rectangle 16">
            <a:extLst>
              <a:ext uri="{FF2B5EF4-FFF2-40B4-BE49-F238E27FC236}">
                <a16:creationId xmlns:a16="http://schemas.microsoft.com/office/drawing/2014/main" id="{C7F10BD0-95DF-54F5-BDA8-9A485A2C1F72}"/>
              </a:ext>
            </a:extLst>
          </p:cNvPr>
          <p:cNvSpPr/>
          <p:nvPr/>
        </p:nvSpPr>
        <p:spPr>
          <a:xfrm>
            <a:off x="2962656" y="4218432"/>
            <a:ext cx="1847088" cy="768096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185D3D"/>
                </a:solidFill>
                <a:latin typeface="Calibri"/>
              </a:rPr>
              <a:t>bt_navigator</a:t>
            </a:r>
            <a:endParaRPr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185D3D"/>
                </a:solidFill>
                <a:latin typeface="Calibri"/>
              </a:rPr>
              <a:t>Árbol de </a:t>
            </a:r>
            <a:r>
              <a:rPr sz="1100" dirty="0" err="1">
                <a:solidFill>
                  <a:srgbClr val="185D3D"/>
                </a:solidFill>
                <a:latin typeface="Calibri"/>
              </a:rPr>
              <a:t>comportamiento</a:t>
            </a:r>
            <a:endParaRPr sz="1100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185D3D"/>
                </a:solidFill>
                <a:latin typeface="Calibri"/>
              </a:rPr>
              <a:t>(Behavior Tree)</a:t>
            </a:r>
          </a:p>
        </p:txBody>
      </p:sp>
      <p:sp>
        <p:nvSpPr>
          <p:cNvPr id="222" name="Rounded Rectangle 17">
            <a:extLst>
              <a:ext uri="{FF2B5EF4-FFF2-40B4-BE49-F238E27FC236}">
                <a16:creationId xmlns:a16="http://schemas.microsoft.com/office/drawing/2014/main" id="{B0B3ABEE-D8B0-85BB-2E52-2905D16D748D}"/>
              </a:ext>
            </a:extLst>
          </p:cNvPr>
          <p:cNvSpPr/>
          <p:nvPr/>
        </p:nvSpPr>
        <p:spPr>
          <a:xfrm>
            <a:off x="7566679" y="4151427"/>
            <a:ext cx="2101107" cy="752384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185D3D"/>
                </a:solidFill>
                <a:latin typeface="Calibri"/>
              </a:rPr>
              <a:t>planner_server</a:t>
            </a:r>
            <a:endParaRPr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100" dirty="0" err="1">
                <a:solidFill>
                  <a:srgbClr val="185D3D"/>
                </a:solidFill>
                <a:latin typeface="Calibri"/>
              </a:rPr>
              <a:t>Planificación</a:t>
            </a:r>
            <a:r>
              <a:rPr sz="1100" dirty="0">
                <a:solidFill>
                  <a:srgbClr val="185D3D"/>
                </a:solidFill>
                <a:latin typeface="Calibri"/>
              </a:rPr>
              <a:t> global</a:t>
            </a:r>
            <a:r>
              <a:rPr lang="es-ES" sz="1100" dirty="0">
                <a:solidFill>
                  <a:srgbClr val="185D3D"/>
                </a:solidFill>
                <a:latin typeface="Calibri"/>
              </a:rPr>
              <a:t> </a:t>
            </a:r>
            <a:r>
              <a:rPr sz="1100" dirty="0">
                <a:solidFill>
                  <a:srgbClr val="185D3D"/>
                </a:solidFill>
                <a:latin typeface="Calibri"/>
              </a:rPr>
              <a:t>(</a:t>
            </a:r>
            <a:r>
              <a:rPr sz="1100" dirty="0" err="1">
                <a:solidFill>
                  <a:srgbClr val="185D3D"/>
                </a:solidFill>
                <a:latin typeface="Calibri"/>
              </a:rPr>
              <a:t>NavFn</a:t>
            </a:r>
            <a:r>
              <a:rPr sz="1100" dirty="0">
                <a:solidFill>
                  <a:srgbClr val="185D3D"/>
                </a:solidFill>
                <a:latin typeface="Calibri"/>
              </a:rPr>
              <a:t> / A*)</a:t>
            </a:r>
          </a:p>
        </p:txBody>
      </p:sp>
      <p:sp>
        <p:nvSpPr>
          <p:cNvPr id="223" name="Rounded Rectangle 18">
            <a:extLst>
              <a:ext uri="{FF2B5EF4-FFF2-40B4-BE49-F238E27FC236}">
                <a16:creationId xmlns:a16="http://schemas.microsoft.com/office/drawing/2014/main" id="{E702A349-2184-C7F4-95FB-0CF2E0658C65}"/>
              </a:ext>
            </a:extLst>
          </p:cNvPr>
          <p:cNvSpPr/>
          <p:nvPr/>
        </p:nvSpPr>
        <p:spPr>
          <a:xfrm>
            <a:off x="9644518" y="3333495"/>
            <a:ext cx="1736341" cy="620816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185D3D"/>
                </a:solidFill>
                <a:latin typeface="Calibri"/>
              </a:rPr>
              <a:t>controller_server</a:t>
            </a:r>
            <a:endParaRPr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185D3D"/>
                </a:solidFill>
                <a:latin typeface="Calibri"/>
              </a:rPr>
              <a:t>Control local</a:t>
            </a:r>
            <a:r>
              <a:rPr lang="es-ES" sz="1100" dirty="0">
                <a:solidFill>
                  <a:srgbClr val="185D3D"/>
                </a:solidFill>
                <a:latin typeface="Calibri"/>
              </a:rPr>
              <a:t> </a:t>
            </a:r>
            <a:r>
              <a:rPr sz="1100" dirty="0">
                <a:solidFill>
                  <a:srgbClr val="185D3D"/>
                </a:solidFill>
                <a:latin typeface="Calibri"/>
              </a:rPr>
              <a:t>(DWB)</a:t>
            </a:r>
          </a:p>
        </p:txBody>
      </p:sp>
      <p:sp>
        <p:nvSpPr>
          <p:cNvPr id="224" name="Rounded Rectangle 19">
            <a:extLst>
              <a:ext uri="{FF2B5EF4-FFF2-40B4-BE49-F238E27FC236}">
                <a16:creationId xmlns:a16="http://schemas.microsoft.com/office/drawing/2014/main" id="{9368632B-2BFA-5CF9-550F-9DDF2F0ED22D}"/>
              </a:ext>
            </a:extLst>
          </p:cNvPr>
          <p:cNvSpPr/>
          <p:nvPr/>
        </p:nvSpPr>
        <p:spPr>
          <a:xfrm>
            <a:off x="7797242" y="5794837"/>
            <a:ext cx="1536192" cy="694944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185D3D"/>
                </a:solidFill>
                <a:latin typeface="Calibri"/>
              </a:rPr>
              <a:t>twist_mux</a:t>
            </a:r>
            <a:endParaRPr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000" dirty="0" err="1">
                <a:solidFill>
                  <a:srgbClr val="185D3D"/>
                </a:solidFill>
                <a:latin typeface="Calibri"/>
              </a:rPr>
              <a:t>Arbitraje</a:t>
            </a:r>
            <a:r>
              <a:rPr sz="1000" dirty="0">
                <a:solidFill>
                  <a:srgbClr val="185D3D"/>
                </a:solidFill>
                <a:latin typeface="Calibri"/>
              </a:rPr>
              <a:t> de </a:t>
            </a:r>
            <a:r>
              <a:rPr sz="1000" dirty="0" err="1">
                <a:solidFill>
                  <a:srgbClr val="185D3D"/>
                </a:solidFill>
                <a:latin typeface="Calibri"/>
              </a:rPr>
              <a:t>comandos</a:t>
            </a:r>
            <a:endParaRPr sz="1000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sz="1000" dirty="0">
                <a:solidFill>
                  <a:srgbClr val="185D3D"/>
                </a:solidFill>
                <a:latin typeface="Calibri"/>
              </a:rPr>
              <a:t>(</a:t>
            </a:r>
            <a:r>
              <a:rPr sz="1000" dirty="0" err="1">
                <a:solidFill>
                  <a:srgbClr val="185D3D"/>
                </a:solidFill>
                <a:latin typeface="Calibri"/>
              </a:rPr>
              <a:t>prioridades</a:t>
            </a:r>
            <a:r>
              <a:rPr sz="1000" dirty="0">
                <a:solidFill>
                  <a:srgbClr val="185D3D"/>
                </a:solidFill>
                <a:latin typeface="Calibri"/>
              </a:rPr>
              <a:t>)</a:t>
            </a:r>
          </a:p>
        </p:txBody>
      </p:sp>
      <p:sp>
        <p:nvSpPr>
          <p:cNvPr id="225" name="Rounded Rectangle 20">
            <a:extLst>
              <a:ext uri="{FF2B5EF4-FFF2-40B4-BE49-F238E27FC236}">
                <a16:creationId xmlns:a16="http://schemas.microsoft.com/office/drawing/2014/main" id="{5D01EF26-871F-26B6-BD6B-6834AF5F974B}"/>
              </a:ext>
            </a:extLst>
          </p:cNvPr>
          <p:cNvSpPr/>
          <p:nvPr/>
        </p:nvSpPr>
        <p:spPr>
          <a:xfrm>
            <a:off x="4674345" y="6825996"/>
            <a:ext cx="1828800" cy="694944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85D3D"/>
                </a:solidFill>
                <a:latin typeface="Calibri"/>
              </a:rPr>
              <a:t>ros2_control</a:t>
            </a:r>
          </a:p>
          <a:p>
            <a:pPr algn="ctr"/>
            <a:r>
              <a:rPr sz="1000">
                <a:solidFill>
                  <a:srgbClr val="185D3D"/>
                </a:solidFill>
                <a:latin typeface="Calibri"/>
              </a:rPr>
              <a:t>Control de la plataforma</a:t>
            </a:r>
          </a:p>
          <a:p>
            <a:pPr algn="ctr"/>
            <a:r>
              <a:rPr sz="1000">
                <a:solidFill>
                  <a:srgbClr val="185D3D"/>
                </a:solidFill>
                <a:latin typeface="Calibri"/>
              </a:rPr>
              <a:t>(diff_drive_controller)</a:t>
            </a:r>
          </a:p>
        </p:txBody>
      </p:sp>
      <p:sp>
        <p:nvSpPr>
          <p:cNvPr id="226" name="Rounded Rectangle 21">
            <a:extLst>
              <a:ext uri="{FF2B5EF4-FFF2-40B4-BE49-F238E27FC236}">
                <a16:creationId xmlns:a16="http://schemas.microsoft.com/office/drawing/2014/main" id="{794BB8E0-560B-D55E-B91A-31744FD248E8}"/>
              </a:ext>
            </a:extLst>
          </p:cNvPr>
          <p:cNvSpPr/>
          <p:nvPr/>
        </p:nvSpPr>
        <p:spPr>
          <a:xfrm>
            <a:off x="1565385" y="7772400"/>
            <a:ext cx="1737360" cy="713232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A49C0"/>
                </a:solidFill>
                <a:latin typeface="Calibri"/>
              </a:rPr>
              <a:t>Arduino Nano</a:t>
            </a:r>
          </a:p>
          <a:p>
            <a:pPr algn="ctr"/>
            <a:r>
              <a:rPr sz="1100">
                <a:solidFill>
                  <a:srgbClr val="1A49C0"/>
                </a:solidFill>
                <a:latin typeface="Calibri"/>
              </a:rPr>
              <a:t>PI incremental por rueda</a:t>
            </a:r>
          </a:p>
          <a:p>
            <a:pPr algn="ctr"/>
            <a:r>
              <a:rPr sz="1100">
                <a:solidFill>
                  <a:srgbClr val="1A49C0"/>
                </a:solidFill>
                <a:latin typeface="Calibri"/>
              </a:rPr>
              <a:t>(velocidad)</a:t>
            </a:r>
          </a:p>
        </p:txBody>
      </p:sp>
      <p:sp>
        <p:nvSpPr>
          <p:cNvPr id="227" name="Rounded Rectangle 22">
            <a:extLst>
              <a:ext uri="{FF2B5EF4-FFF2-40B4-BE49-F238E27FC236}">
                <a16:creationId xmlns:a16="http://schemas.microsoft.com/office/drawing/2014/main" id="{E907FED4-C209-5529-B5EF-77C5E0F308CE}"/>
              </a:ext>
            </a:extLst>
          </p:cNvPr>
          <p:cNvSpPr/>
          <p:nvPr/>
        </p:nvSpPr>
        <p:spPr>
          <a:xfrm>
            <a:off x="4674345" y="7772400"/>
            <a:ext cx="1700784" cy="713232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1A49C0"/>
                </a:solidFill>
                <a:latin typeface="Calibri"/>
              </a:rPr>
              <a:t>L298N (Driver)</a:t>
            </a:r>
          </a:p>
          <a:p>
            <a:pPr algn="ctr"/>
            <a:r>
              <a:rPr sz="1100" dirty="0">
                <a:solidFill>
                  <a:srgbClr val="1A49C0"/>
                </a:solidFill>
                <a:latin typeface="Calibri"/>
              </a:rPr>
              <a:t>PWM + DIR</a:t>
            </a:r>
          </a:p>
        </p:txBody>
      </p:sp>
      <p:sp>
        <p:nvSpPr>
          <p:cNvPr id="228" name="Rounded Rectangle 23">
            <a:extLst>
              <a:ext uri="{FF2B5EF4-FFF2-40B4-BE49-F238E27FC236}">
                <a16:creationId xmlns:a16="http://schemas.microsoft.com/office/drawing/2014/main" id="{4D9C65D4-3E65-6861-74C4-89938561D01A}"/>
              </a:ext>
            </a:extLst>
          </p:cNvPr>
          <p:cNvSpPr/>
          <p:nvPr/>
        </p:nvSpPr>
        <p:spPr>
          <a:xfrm>
            <a:off x="7033497" y="7772400"/>
            <a:ext cx="1920240" cy="713232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A49C0"/>
                </a:solidFill>
                <a:latin typeface="Calibri"/>
              </a:rPr>
              <a:t>Motores DC</a:t>
            </a:r>
          </a:p>
        </p:txBody>
      </p:sp>
      <p:sp>
        <p:nvSpPr>
          <p:cNvPr id="229" name="Rounded Rectangle 24">
            <a:extLst>
              <a:ext uri="{FF2B5EF4-FFF2-40B4-BE49-F238E27FC236}">
                <a16:creationId xmlns:a16="http://schemas.microsoft.com/office/drawing/2014/main" id="{2F308B28-3F0E-D9DC-8689-E484102D8BD5}"/>
              </a:ext>
            </a:extLst>
          </p:cNvPr>
          <p:cNvSpPr/>
          <p:nvPr/>
        </p:nvSpPr>
        <p:spPr>
          <a:xfrm>
            <a:off x="9282920" y="7772400"/>
            <a:ext cx="2136919" cy="713232"/>
          </a:xfrm>
          <a:prstGeom prst="roundRect">
            <a:avLst/>
          </a:prstGeom>
          <a:solidFill>
            <a:srgbClr val="F2F7FF"/>
          </a:solidFill>
          <a:ln w="15240"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A49C0"/>
                </a:solidFill>
                <a:latin typeface="Calibri"/>
              </a:rPr>
              <a:t>Encoders</a:t>
            </a:r>
            <a:endParaRPr lang="en-US" sz="1500" b="1" dirty="0">
              <a:solidFill>
                <a:srgbClr val="1A49C0"/>
              </a:solidFill>
              <a:latin typeface="Calibri"/>
            </a:endParaRPr>
          </a:p>
          <a:p>
            <a:pPr algn="ctr"/>
            <a:r>
              <a:rPr lang="en-US" sz="1100" dirty="0" err="1">
                <a:solidFill>
                  <a:srgbClr val="1A49C0"/>
                </a:solidFill>
                <a:latin typeface="Calibri"/>
              </a:rPr>
              <a:t>Retroalimentación</a:t>
            </a:r>
            <a:r>
              <a:rPr lang="en-US" sz="1100" dirty="0">
                <a:solidFill>
                  <a:srgbClr val="1A49C0"/>
                </a:solidFill>
                <a:latin typeface="Calibri"/>
              </a:rPr>
              <a:t> de </a:t>
            </a:r>
            <a:r>
              <a:rPr lang="en-US" sz="1100" dirty="0" err="1">
                <a:solidFill>
                  <a:srgbClr val="1A49C0"/>
                </a:solidFill>
                <a:latin typeface="Calibri"/>
              </a:rPr>
              <a:t>velocidad</a:t>
            </a:r>
            <a:endParaRPr lang="en-US" sz="1100" dirty="0">
              <a:solidFill>
                <a:srgbClr val="1A49C0"/>
              </a:solidFill>
              <a:latin typeface="Calibri"/>
            </a:endParaRPr>
          </a:p>
        </p:txBody>
      </p:sp>
      <p:sp>
        <p:nvSpPr>
          <p:cNvPr id="230" name="Rounded Rectangle 25">
            <a:extLst>
              <a:ext uri="{FF2B5EF4-FFF2-40B4-BE49-F238E27FC236}">
                <a16:creationId xmlns:a16="http://schemas.microsoft.com/office/drawing/2014/main" id="{88011047-3847-92E6-3A33-5CD7FD258910}"/>
              </a:ext>
            </a:extLst>
          </p:cNvPr>
          <p:cNvSpPr/>
          <p:nvPr/>
        </p:nvSpPr>
        <p:spPr>
          <a:xfrm>
            <a:off x="8724143" y="21525"/>
            <a:ext cx="3594856" cy="1447103"/>
          </a:xfrm>
          <a:prstGeom prst="roundRect">
            <a:avLst>
              <a:gd name="adj" fmla="val 5707"/>
            </a:avLst>
          </a:prstGeom>
          <a:solidFill>
            <a:srgbClr val="FAFAFA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A2F561B-D0F6-5674-9E61-D3E2DD153A09}"/>
              </a:ext>
            </a:extLst>
          </p:cNvPr>
          <p:cNvSpPr txBox="1"/>
          <p:nvPr/>
        </p:nvSpPr>
        <p:spPr>
          <a:xfrm>
            <a:off x="9236207" y="131253"/>
            <a:ext cx="8686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5A5A5A"/>
                </a:solidFill>
                <a:latin typeface="Calibri"/>
              </a:rPr>
              <a:t>LEYENDA</a:t>
            </a:r>
          </a:p>
        </p:txBody>
      </p:sp>
      <p:sp>
        <p:nvSpPr>
          <p:cNvPr id="232" name="Rounded Rectangle 27">
            <a:extLst>
              <a:ext uri="{FF2B5EF4-FFF2-40B4-BE49-F238E27FC236}">
                <a16:creationId xmlns:a16="http://schemas.microsoft.com/office/drawing/2014/main" id="{2F9CCC01-415A-13B2-C3FD-1DC30B0AF39D}"/>
              </a:ext>
            </a:extLst>
          </p:cNvPr>
          <p:cNvSpPr/>
          <p:nvPr/>
        </p:nvSpPr>
        <p:spPr>
          <a:xfrm>
            <a:off x="8907023" y="468565"/>
            <a:ext cx="228600" cy="182880"/>
          </a:xfrm>
          <a:prstGeom prst="roundRect">
            <a:avLst/>
          </a:prstGeom>
          <a:noFill/>
          <a:ln w="12700">
            <a:solidFill>
              <a:srgbClr val="825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61B1CF9D-F4CD-4918-5534-64850A0E0C1C}"/>
              </a:ext>
            </a:extLst>
          </p:cNvPr>
          <p:cNvSpPr txBox="1"/>
          <p:nvPr/>
        </p:nvSpPr>
        <p:spPr>
          <a:xfrm>
            <a:off x="9217918" y="431598"/>
            <a:ext cx="1471168" cy="23852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282828"/>
                </a:solidFill>
                <a:latin typeface="Calibri"/>
              </a:rPr>
              <a:t>Interacción</a:t>
            </a:r>
            <a:r>
              <a:rPr sz="950" b="0" dirty="0">
                <a:solidFill>
                  <a:srgbClr val="282828"/>
                </a:solidFill>
                <a:latin typeface="Calibri"/>
              </a:rPr>
              <a:t> del </a:t>
            </a:r>
            <a:r>
              <a:rPr sz="950" b="0" dirty="0" err="1">
                <a:solidFill>
                  <a:srgbClr val="282828"/>
                </a:solidFill>
                <a:latin typeface="Calibri"/>
              </a:rPr>
              <a:t>operador</a:t>
            </a:r>
            <a:endParaRPr sz="950" b="0" dirty="0">
              <a:solidFill>
                <a:srgbClr val="282828"/>
              </a:solidFill>
              <a:latin typeface="Calibri"/>
            </a:endParaRPr>
          </a:p>
        </p:txBody>
      </p:sp>
      <p:sp>
        <p:nvSpPr>
          <p:cNvPr id="234" name="Rounded Rectangle 29">
            <a:extLst>
              <a:ext uri="{FF2B5EF4-FFF2-40B4-BE49-F238E27FC236}">
                <a16:creationId xmlns:a16="http://schemas.microsoft.com/office/drawing/2014/main" id="{EB04884B-E79D-5EC4-975E-D2DDE0EFC32D}"/>
              </a:ext>
            </a:extLst>
          </p:cNvPr>
          <p:cNvSpPr/>
          <p:nvPr/>
        </p:nvSpPr>
        <p:spPr>
          <a:xfrm>
            <a:off x="8907023" y="797749"/>
            <a:ext cx="228600" cy="182880"/>
          </a:xfrm>
          <a:prstGeom prst="roundRect">
            <a:avLst/>
          </a:prstGeom>
          <a:noFill/>
          <a:ln w="1270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60E065-558A-6BED-A6B1-4BDA2898244A}"/>
              </a:ext>
            </a:extLst>
          </p:cNvPr>
          <p:cNvSpPr txBox="1"/>
          <p:nvPr/>
        </p:nvSpPr>
        <p:spPr>
          <a:xfrm>
            <a:off x="9217918" y="760782"/>
            <a:ext cx="1471168" cy="23852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282828"/>
                </a:solidFill>
                <a:latin typeface="Calibri"/>
              </a:rPr>
              <a:t>Componentes</a:t>
            </a:r>
            <a:r>
              <a:rPr sz="950" b="0" dirty="0">
                <a:solidFill>
                  <a:srgbClr val="282828"/>
                </a:solidFill>
                <a:latin typeface="Calibri"/>
              </a:rPr>
              <a:t> ROS 2</a:t>
            </a:r>
          </a:p>
        </p:txBody>
      </p:sp>
      <p:sp>
        <p:nvSpPr>
          <p:cNvPr id="236" name="Rounded Rectangle 31">
            <a:extLst>
              <a:ext uri="{FF2B5EF4-FFF2-40B4-BE49-F238E27FC236}">
                <a16:creationId xmlns:a16="http://schemas.microsoft.com/office/drawing/2014/main" id="{B870154C-83BB-121D-DAA1-8006E96FB45C}"/>
              </a:ext>
            </a:extLst>
          </p:cNvPr>
          <p:cNvSpPr/>
          <p:nvPr/>
        </p:nvSpPr>
        <p:spPr>
          <a:xfrm>
            <a:off x="8907023" y="1126933"/>
            <a:ext cx="228600" cy="182880"/>
          </a:xfrm>
          <a:prstGeom prst="roundRect">
            <a:avLst/>
          </a:prstGeom>
          <a:noFill/>
          <a:ln w="12700"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C346170-16F1-A5ED-B16E-DDFB7D36397E}"/>
              </a:ext>
            </a:extLst>
          </p:cNvPr>
          <p:cNvSpPr txBox="1"/>
          <p:nvPr/>
        </p:nvSpPr>
        <p:spPr>
          <a:xfrm>
            <a:off x="9217918" y="1089966"/>
            <a:ext cx="1471168" cy="23852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950" b="0" dirty="0" err="1">
                <a:solidFill>
                  <a:srgbClr val="282828"/>
                </a:solidFill>
                <a:latin typeface="Calibri"/>
              </a:rPr>
              <a:t>Componentes</a:t>
            </a:r>
            <a:r>
              <a:rPr sz="950" b="0" dirty="0">
                <a:solidFill>
                  <a:srgbClr val="282828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282828"/>
                </a:solidFill>
                <a:latin typeface="Calibri"/>
              </a:rPr>
              <a:t>físicos</a:t>
            </a:r>
            <a:endParaRPr sz="950" b="0" dirty="0">
              <a:solidFill>
                <a:srgbClr val="282828"/>
              </a:solidFill>
              <a:latin typeface="Calibri"/>
            </a:endParaRPr>
          </a:p>
        </p:txBody>
      </p:sp>
      <p:cxnSp>
        <p:nvCxnSpPr>
          <p:cNvPr id="247" name="Connector 51">
            <a:extLst>
              <a:ext uri="{FF2B5EF4-FFF2-40B4-BE49-F238E27FC236}">
                <a16:creationId xmlns:a16="http://schemas.microsoft.com/office/drawing/2014/main" id="{8AE8D3B9-B536-82EB-EE15-1E0F833AC357}"/>
              </a:ext>
            </a:extLst>
          </p:cNvPr>
          <p:cNvCxnSpPr>
            <a:cxnSpLocks/>
          </p:cNvCxnSpPr>
          <p:nvPr/>
        </p:nvCxnSpPr>
        <p:spPr>
          <a:xfrm>
            <a:off x="6106160" y="1170432"/>
            <a:ext cx="9144" cy="992632"/>
          </a:xfrm>
          <a:prstGeom prst="line">
            <a:avLst/>
          </a:prstGeom>
          <a:ln w="2032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52">
            <a:extLst>
              <a:ext uri="{FF2B5EF4-FFF2-40B4-BE49-F238E27FC236}">
                <a16:creationId xmlns:a16="http://schemas.microsoft.com/office/drawing/2014/main" id="{D43F14EE-2238-DCA1-C942-E4F24F38C594}"/>
              </a:ext>
            </a:extLst>
          </p:cNvPr>
          <p:cNvCxnSpPr>
            <a:cxnSpLocks/>
          </p:cNvCxnSpPr>
          <p:nvPr/>
        </p:nvCxnSpPr>
        <p:spPr>
          <a:xfrm flipH="1">
            <a:off x="3850135" y="2163064"/>
            <a:ext cx="2274822" cy="0"/>
          </a:xfrm>
          <a:prstGeom prst="line">
            <a:avLst/>
          </a:prstGeom>
          <a:ln w="2032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53">
            <a:extLst>
              <a:ext uri="{FF2B5EF4-FFF2-40B4-BE49-F238E27FC236}">
                <a16:creationId xmlns:a16="http://schemas.microsoft.com/office/drawing/2014/main" id="{B841F2E1-A492-30B6-9C80-051570DF11FA}"/>
              </a:ext>
            </a:extLst>
          </p:cNvPr>
          <p:cNvCxnSpPr>
            <a:cxnSpLocks/>
          </p:cNvCxnSpPr>
          <p:nvPr/>
        </p:nvCxnSpPr>
        <p:spPr>
          <a:xfrm>
            <a:off x="3850135" y="2155270"/>
            <a:ext cx="8633" cy="673274"/>
          </a:xfrm>
          <a:prstGeom prst="line">
            <a:avLst/>
          </a:prstGeom>
          <a:ln w="2032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Isosceles Triangle 249">
            <a:extLst>
              <a:ext uri="{FF2B5EF4-FFF2-40B4-BE49-F238E27FC236}">
                <a16:creationId xmlns:a16="http://schemas.microsoft.com/office/drawing/2014/main" id="{10ECEEAC-25F9-C707-E7B8-E86F09962D6C}"/>
              </a:ext>
            </a:extLst>
          </p:cNvPr>
          <p:cNvSpPr/>
          <p:nvPr/>
        </p:nvSpPr>
        <p:spPr>
          <a:xfrm rot="10800000">
            <a:off x="3813048" y="2778252"/>
            <a:ext cx="91440" cy="91440"/>
          </a:xfrm>
          <a:prstGeom prst="triangle">
            <a:avLst/>
          </a:prstGeom>
          <a:solidFill>
            <a:srgbClr val="3C69DC"/>
          </a:solidFill>
          <a:ln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2" name="Connector 56">
            <a:extLst>
              <a:ext uri="{FF2B5EF4-FFF2-40B4-BE49-F238E27FC236}">
                <a16:creationId xmlns:a16="http://schemas.microsoft.com/office/drawing/2014/main" id="{7C5533A2-94CC-626B-0C14-24F7CC0ECA05}"/>
              </a:ext>
            </a:extLst>
          </p:cNvPr>
          <p:cNvCxnSpPr>
            <a:cxnSpLocks/>
          </p:cNvCxnSpPr>
          <p:nvPr/>
        </p:nvCxnSpPr>
        <p:spPr>
          <a:xfrm flipV="1">
            <a:off x="6106160" y="2157476"/>
            <a:ext cx="1217674" cy="5588"/>
          </a:xfrm>
          <a:prstGeom prst="line">
            <a:avLst/>
          </a:prstGeom>
          <a:ln w="2032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57">
            <a:extLst>
              <a:ext uri="{FF2B5EF4-FFF2-40B4-BE49-F238E27FC236}">
                <a16:creationId xmlns:a16="http://schemas.microsoft.com/office/drawing/2014/main" id="{4660C93A-DD5A-8965-C833-7C015E5BB95D}"/>
              </a:ext>
            </a:extLst>
          </p:cNvPr>
          <p:cNvCxnSpPr>
            <a:cxnSpLocks/>
          </p:cNvCxnSpPr>
          <p:nvPr/>
        </p:nvCxnSpPr>
        <p:spPr>
          <a:xfrm>
            <a:off x="7315200" y="2157476"/>
            <a:ext cx="0" cy="183388"/>
          </a:xfrm>
          <a:prstGeom prst="line">
            <a:avLst/>
          </a:prstGeom>
          <a:ln w="2032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Isosceles Triangle 253">
            <a:extLst>
              <a:ext uri="{FF2B5EF4-FFF2-40B4-BE49-F238E27FC236}">
                <a16:creationId xmlns:a16="http://schemas.microsoft.com/office/drawing/2014/main" id="{D79B0F45-C0B9-FB85-E4FF-9CFDEC458C42}"/>
              </a:ext>
            </a:extLst>
          </p:cNvPr>
          <p:cNvSpPr/>
          <p:nvPr/>
        </p:nvSpPr>
        <p:spPr>
          <a:xfrm rot="10800000">
            <a:off x="7269480" y="2263902"/>
            <a:ext cx="91440" cy="91440"/>
          </a:xfrm>
          <a:prstGeom prst="triangle">
            <a:avLst/>
          </a:prstGeom>
          <a:solidFill>
            <a:srgbClr val="3C69DC"/>
          </a:solidFill>
          <a:ln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6" name="Connector 63">
            <a:extLst>
              <a:ext uri="{FF2B5EF4-FFF2-40B4-BE49-F238E27FC236}">
                <a16:creationId xmlns:a16="http://schemas.microsoft.com/office/drawing/2014/main" id="{373D883D-56BC-E214-B65E-37AB6EA95834}"/>
              </a:ext>
            </a:extLst>
          </p:cNvPr>
          <p:cNvCxnSpPr>
            <a:cxnSpLocks/>
          </p:cNvCxnSpPr>
          <p:nvPr/>
        </p:nvCxnSpPr>
        <p:spPr>
          <a:xfrm>
            <a:off x="3386057" y="1128776"/>
            <a:ext cx="0" cy="1712976"/>
          </a:xfrm>
          <a:prstGeom prst="line">
            <a:avLst/>
          </a:prstGeom>
          <a:ln w="17780">
            <a:solidFill>
              <a:srgbClr val="8258C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81B0A636-8B4E-2869-64D5-7C662863AC6F}"/>
              </a:ext>
            </a:extLst>
          </p:cNvPr>
          <p:cNvSpPr txBox="1"/>
          <p:nvPr/>
        </p:nvSpPr>
        <p:spPr>
          <a:xfrm>
            <a:off x="3264408" y="1685225"/>
            <a:ext cx="1188720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80" b="0" dirty="0">
                <a:solidFill>
                  <a:srgbClr val="7030A0"/>
                </a:solidFill>
                <a:latin typeface="Calibri"/>
              </a:rPr>
              <a:t>TF, </a:t>
            </a:r>
            <a:r>
              <a:rPr lang="es-ES" sz="980" b="0" dirty="0">
                <a:solidFill>
                  <a:srgbClr val="7030A0"/>
                </a:solidFill>
                <a:latin typeface="Calibri"/>
              </a:rPr>
              <a:t>/</a:t>
            </a:r>
            <a:r>
              <a:rPr sz="980" b="0" dirty="0">
                <a:solidFill>
                  <a:srgbClr val="7030A0"/>
                </a:solidFill>
                <a:latin typeface="Calibri"/>
              </a:rPr>
              <a:t>map,</a:t>
            </a:r>
            <a:r>
              <a:rPr lang="es-ES" sz="980" b="0" dirty="0">
                <a:solidFill>
                  <a:srgbClr val="7030A0"/>
                </a:solidFill>
                <a:latin typeface="Calibri"/>
              </a:rPr>
              <a:t> </a:t>
            </a:r>
            <a:r>
              <a:rPr sz="980" b="0" dirty="0" err="1">
                <a:solidFill>
                  <a:srgbClr val="7030A0"/>
                </a:solidFill>
                <a:latin typeface="Calibri"/>
              </a:rPr>
              <a:t>estado</a:t>
            </a:r>
            <a:endParaRPr sz="980" b="0" dirty="0">
              <a:solidFill>
                <a:srgbClr val="7030A0"/>
              </a:solidFill>
              <a:latin typeface="Calibri"/>
            </a:endParaRPr>
          </a:p>
        </p:txBody>
      </p:sp>
      <p:cxnSp>
        <p:nvCxnSpPr>
          <p:cNvPr id="261" name="Connector 78">
            <a:extLst>
              <a:ext uri="{FF2B5EF4-FFF2-40B4-BE49-F238E27FC236}">
                <a16:creationId xmlns:a16="http://schemas.microsoft.com/office/drawing/2014/main" id="{405731BF-1AAF-FD27-E32F-D5F1EC167D91}"/>
              </a:ext>
            </a:extLst>
          </p:cNvPr>
          <p:cNvCxnSpPr>
            <a:cxnSpLocks/>
            <a:endCxn id="263" idx="0"/>
          </p:cNvCxnSpPr>
          <p:nvPr/>
        </p:nvCxnSpPr>
        <p:spPr>
          <a:xfrm flipV="1">
            <a:off x="5545836" y="2715387"/>
            <a:ext cx="1481058" cy="9525"/>
          </a:xfrm>
          <a:prstGeom prst="line">
            <a:avLst/>
          </a:prstGeom>
          <a:ln w="1651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Isosceles Triangle 262">
            <a:extLst>
              <a:ext uri="{FF2B5EF4-FFF2-40B4-BE49-F238E27FC236}">
                <a16:creationId xmlns:a16="http://schemas.microsoft.com/office/drawing/2014/main" id="{EE57A59C-C767-BD5F-440B-ECCCC1904C3C}"/>
              </a:ext>
            </a:extLst>
          </p:cNvPr>
          <p:cNvSpPr/>
          <p:nvPr/>
        </p:nvSpPr>
        <p:spPr>
          <a:xfrm rot="5400000">
            <a:off x="6935454" y="2669667"/>
            <a:ext cx="91440" cy="91440"/>
          </a:xfrm>
          <a:prstGeom prst="triangle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A097110-66FC-5C79-52AF-ADD83BAC8D1D}"/>
              </a:ext>
            </a:extLst>
          </p:cNvPr>
          <p:cNvSpPr txBox="1"/>
          <p:nvPr/>
        </p:nvSpPr>
        <p:spPr>
          <a:xfrm>
            <a:off x="5116068" y="2458362"/>
            <a:ext cx="1542510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980" dirty="0">
                <a:solidFill>
                  <a:srgbClr val="282828"/>
                </a:solidFill>
                <a:latin typeface="Calibri"/>
              </a:rPr>
              <a:t>TF( </a:t>
            </a:r>
            <a:r>
              <a:rPr lang="es-ES" sz="980" b="0" dirty="0" err="1">
                <a:solidFill>
                  <a:srgbClr val="282828"/>
                </a:solidFill>
                <a:latin typeface="Calibri"/>
              </a:rPr>
              <a:t>map→odom</a:t>
            </a:r>
            <a:r>
              <a:rPr lang="es-ES" sz="980" b="0" dirty="0">
                <a:solidFill>
                  <a:srgbClr val="282828"/>
                </a:solidFill>
                <a:latin typeface="Calibri"/>
              </a:rPr>
              <a:t> ) y /</a:t>
            </a:r>
            <a:r>
              <a:rPr lang="es-ES" sz="980" b="0" dirty="0" err="1">
                <a:solidFill>
                  <a:srgbClr val="282828"/>
                </a:solidFill>
                <a:latin typeface="Calibri"/>
              </a:rPr>
              <a:t>map</a:t>
            </a:r>
            <a:endParaRPr sz="980" b="0" dirty="0">
              <a:solidFill>
                <a:srgbClr val="282828"/>
              </a:solidFill>
              <a:latin typeface="Calibri"/>
            </a:endParaRPr>
          </a:p>
        </p:txBody>
      </p:sp>
      <p:cxnSp>
        <p:nvCxnSpPr>
          <p:cNvPr id="267" name="Connector 84">
            <a:extLst>
              <a:ext uri="{FF2B5EF4-FFF2-40B4-BE49-F238E27FC236}">
                <a16:creationId xmlns:a16="http://schemas.microsoft.com/office/drawing/2014/main" id="{66D8BEF5-AC8B-D341-F255-EF575FCEAE21}"/>
              </a:ext>
            </a:extLst>
          </p:cNvPr>
          <p:cNvCxnSpPr>
            <a:cxnSpLocks/>
          </p:cNvCxnSpPr>
          <p:nvPr/>
        </p:nvCxnSpPr>
        <p:spPr>
          <a:xfrm>
            <a:off x="8641211" y="3114305"/>
            <a:ext cx="0" cy="557819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Isosceles Triangle 267">
            <a:extLst>
              <a:ext uri="{FF2B5EF4-FFF2-40B4-BE49-F238E27FC236}">
                <a16:creationId xmlns:a16="http://schemas.microsoft.com/office/drawing/2014/main" id="{6B1E2708-61E3-28CC-2A3E-3433A49A6917}"/>
              </a:ext>
            </a:extLst>
          </p:cNvPr>
          <p:cNvSpPr/>
          <p:nvPr/>
        </p:nvSpPr>
        <p:spPr>
          <a:xfrm rot="10800000">
            <a:off x="8423637" y="4056668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0" name="Connector 87">
            <a:extLst>
              <a:ext uri="{FF2B5EF4-FFF2-40B4-BE49-F238E27FC236}">
                <a16:creationId xmlns:a16="http://schemas.microsoft.com/office/drawing/2014/main" id="{AB1062C7-AB37-6F83-3CCF-A58F2E20C1F3}"/>
              </a:ext>
            </a:extLst>
          </p:cNvPr>
          <p:cNvCxnSpPr>
            <a:cxnSpLocks/>
            <a:endCxn id="223" idx="1"/>
          </p:cNvCxnSpPr>
          <p:nvPr/>
        </p:nvCxnSpPr>
        <p:spPr>
          <a:xfrm flipV="1">
            <a:off x="8641211" y="3643903"/>
            <a:ext cx="1003307" cy="5704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90">
            <a:extLst>
              <a:ext uri="{FF2B5EF4-FFF2-40B4-BE49-F238E27FC236}">
                <a16:creationId xmlns:a16="http://schemas.microsoft.com/office/drawing/2014/main" id="{1A8039EF-8C22-C675-17F2-DF58E6EEBDC3}"/>
              </a:ext>
            </a:extLst>
          </p:cNvPr>
          <p:cNvCxnSpPr>
            <a:cxnSpLocks/>
          </p:cNvCxnSpPr>
          <p:nvPr/>
        </p:nvCxnSpPr>
        <p:spPr>
          <a:xfrm>
            <a:off x="3779518" y="4986528"/>
            <a:ext cx="0" cy="553720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Isosceles Triangle 273">
            <a:extLst>
              <a:ext uri="{FF2B5EF4-FFF2-40B4-BE49-F238E27FC236}">
                <a16:creationId xmlns:a16="http://schemas.microsoft.com/office/drawing/2014/main" id="{26801B9A-AF65-9399-D026-B449B52C30E2}"/>
              </a:ext>
            </a:extLst>
          </p:cNvPr>
          <p:cNvSpPr/>
          <p:nvPr/>
        </p:nvSpPr>
        <p:spPr>
          <a:xfrm>
            <a:off x="3727702" y="4983814"/>
            <a:ext cx="91440" cy="91440"/>
          </a:xfrm>
          <a:prstGeom prst="triangle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2D95820D-783C-084A-458B-0E6C3EB67AD6}"/>
              </a:ext>
            </a:extLst>
          </p:cNvPr>
          <p:cNvSpPr txBox="1"/>
          <p:nvPr/>
        </p:nvSpPr>
        <p:spPr>
          <a:xfrm>
            <a:off x="3056635" y="5588381"/>
            <a:ext cx="1342134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80" b="0" dirty="0">
                <a:solidFill>
                  <a:srgbClr val="282828"/>
                </a:solidFill>
                <a:latin typeface="Calibri"/>
              </a:rPr>
              <a:t>Metas de</a:t>
            </a:r>
            <a:r>
              <a:rPr lang="es-ES" sz="980" b="0" dirty="0">
                <a:solidFill>
                  <a:srgbClr val="282828"/>
                </a:solidFill>
                <a:latin typeface="Calibri"/>
              </a:rPr>
              <a:t> </a:t>
            </a:r>
            <a:r>
              <a:rPr sz="980" b="0" dirty="0" err="1">
                <a:solidFill>
                  <a:srgbClr val="282828"/>
                </a:solidFill>
                <a:latin typeface="Calibri"/>
              </a:rPr>
              <a:t>exploración</a:t>
            </a:r>
            <a:endParaRPr sz="980" b="0" dirty="0">
              <a:solidFill>
                <a:srgbClr val="282828"/>
              </a:solidFill>
              <a:latin typeface="Calibri"/>
            </a:endParaRPr>
          </a:p>
        </p:txBody>
      </p:sp>
      <p:cxnSp>
        <p:nvCxnSpPr>
          <p:cNvPr id="276" name="Connector 93">
            <a:extLst>
              <a:ext uri="{FF2B5EF4-FFF2-40B4-BE49-F238E27FC236}">
                <a16:creationId xmlns:a16="http://schemas.microsoft.com/office/drawing/2014/main" id="{865C76EB-6076-33A2-77FD-E833727C74B1}"/>
              </a:ext>
            </a:extLst>
          </p:cNvPr>
          <p:cNvCxnSpPr>
            <a:cxnSpLocks/>
          </p:cNvCxnSpPr>
          <p:nvPr/>
        </p:nvCxnSpPr>
        <p:spPr>
          <a:xfrm flipH="1">
            <a:off x="8846549" y="2841752"/>
            <a:ext cx="1729249" cy="2794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94">
            <a:extLst>
              <a:ext uri="{FF2B5EF4-FFF2-40B4-BE49-F238E27FC236}">
                <a16:creationId xmlns:a16="http://schemas.microsoft.com/office/drawing/2014/main" id="{A0E99645-C6DE-2578-9001-40744AE0C8F6}"/>
              </a:ext>
            </a:extLst>
          </p:cNvPr>
          <p:cNvCxnSpPr>
            <a:cxnSpLocks/>
          </p:cNvCxnSpPr>
          <p:nvPr/>
        </p:nvCxnSpPr>
        <p:spPr>
          <a:xfrm>
            <a:off x="10575798" y="2828544"/>
            <a:ext cx="0" cy="499491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Isosceles Triangle 277">
            <a:extLst>
              <a:ext uri="{FF2B5EF4-FFF2-40B4-BE49-F238E27FC236}">
                <a16:creationId xmlns:a16="http://schemas.microsoft.com/office/drawing/2014/main" id="{9272CD1C-3A51-31D6-7C8B-7B9618B4DC4C}"/>
              </a:ext>
            </a:extLst>
          </p:cNvPr>
          <p:cNvSpPr/>
          <p:nvPr/>
        </p:nvSpPr>
        <p:spPr>
          <a:xfrm rot="10800000">
            <a:off x="10530078" y="3232276"/>
            <a:ext cx="91440" cy="91440"/>
          </a:xfrm>
          <a:prstGeom prst="triangle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879FA1B7-DAAE-BBA3-6498-96DDF8D8FD15}"/>
              </a:ext>
            </a:extLst>
          </p:cNvPr>
          <p:cNvSpPr txBox="1"/>
          <p:nvPr/>
        </p:nvSpPr>
        <p:spPr>
          <a:xfrm>
            <a:off x="9358327" y="2598577"/>
            <a:ext cx="1225296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80" b="0" dirty="0">
                <a:solidFill>
                  <a:srgbClr val="282828"/>
                </a:solidFill>
                <a:latin typeface="Calibri"/>
              </a:rPr>
              <a:t>Actualiza</a:t>
            </a:r>
            <a:r>
              <a:rPr lang="es-ES" sz="980" b="0" dirty="0">
                <a:solidFill>
                  <a:srgbClr val="282828"/>
                </a:solidFill>
                <a:latin typeface="Calibri"/>
              </a:rPr>
              <a:t> </a:t>
            </a:r>
            <a:r>
              <a:rPr sz="980" b="0" dirty="0" err="1">
                <a:solidFill>
                  <a:srgbClr val="282828"/>
                </a:solidFill>
                <a:latin typeface="Calibri"/>
              </a:rPr>
              <a:t>costmaps</a:t>
            </a:r>
            <a:endParaRPr sz="980" b="0" dirty="0">
              <a:solidFill>
                <a:srgbClr val="282828"/>
              </a:solidFill>
              <a:latin typeface="Calibri"/>
            </a:endParaRPr>
          </a:p>
        </p:txBody>
      </p:sp>
      <p:cxnSp>
        <p:nvCxnSpPr>
          <p:cNvPr id="280" name="Connector 97">
            <a:extLst>
              <a:ext uri="{FF2B5EF4-FFF2-40B4-BE49-F238E27FC236}">
                <a16:creationId xmlns:a16="http://schemas.microsoft.com/office/drawing/2014/main" id="{0533F137-CA62-A401-0EC5-C9EB9E55939D}"/>
              </a:ext>
            </a:extLst>
          </p:cNvPr>
          <p:cNvCxnSpPr>
            <a:cxnSpLocks/>
            <a:endCxn id="281" idx="0"/>
          </p:cNvCxnSpPr>
          <p:nvPr/>
        </p:nvCxnSpPr>
        <p:spPr>
          <a:xfrm flipV="1">
            <a:off x="4820450" y="4352557"/>
            <a:ext cx="2746229" cy="8784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Isosceles Triangle 280">
            <a:extLst>
              <a:ext uri="{FF2B5EF4-FFF2-40B4-BE49-F238E27FC236}">
                <a16:creationId xmlns:a16="http://schemas.microsoft.com/office/drawing/2014/main" id="{88130B60-F584-9844-FED2-8E11F2D59E7F}"/>
              </a:ext>
            </a:extLst>
          </p:cNvPr>
          <p:cNvSpPr/>
          <p:nvPr/>
        </p:nvSpPr>
        <p:spPr>
          <a:xfrm rot="5400000">
            <a:off x="7475239" y="4306837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9BC2F5C3-F0B9-4D26-7016-2520D0A53458}"/>
              </a:ext>
            </a:extLst>
          </p:cNvPr>
          <p:cNvSpPr txBox="1"/>
          <p:nvPr/>
        </p:nvSpPr>
        <p:spPr>
          <a:xfrm>
            <a:off x="6594585" y="4138410"/>
            <a:ext cx="603504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282828"/>
                </a:solidFill>
                <a:latin typeface="Calibri"/>
              </a:rPr>
              <a:t>Meta</a:t>
            </a:r>
          </a:p>
        </p:txBody>
      </p:sp>
      <p:cxnSp>
        <p:nvCxnSpPr>
          <p:cNvPr id="283" name="Connector 100">
            <a:extLst>
              <a:ext uri="{FF2B5EF4-FFF2-40B4-BE49-F238E27FC236}">
                <a16:creationId xmlns:a16="http://schemas.microsoft.com/office/drawing/2014/main" id="{4813D53F-4898-DCCB-17BC-F3F704626E8A}"/>
              </a:ext>
            </a:extLst>
          </p:cNvPr>
          <p:cNvCxnSpPr>
            <a:cxnSpLocks/>
            <a:stCxn id="321" idx="0"/>
            <a:endCxn id="284" idx="0"/>
          </p:cNvCxnSpPr>
          <p:nvPr/>
        </p:nvCxnSpPr>
        <p:spPr>
          <a:xfrm flipH="1">
            <a:off x="4804664" y="4690163"/>
            <a:ext cx="2746229" cy="6805"/>
          </a:xfrm>
          <a:prstGeom prst="line">
            <a:avLst/>
          </a:prstGeom>
          <a:ln w="17780">
            <a:solidFill>
              <a:srgbClr val="28282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Isosceles Triangle 283">
            <a:extLst>
              <a:ext uri="{FF2B5EF4-FFF2-40B4-BE49-F238E27FC236}">
                <a16:creationId xmlns:a16="http://schemas.microsoft.com/office/drawing/2014/main" id="{64BC5D2F-6FC1-2953-CEA2-8BEC17496937}"/>
              </a:ext>
            </a:extLst>
          </p:cNvPr>
          <p:cNvSpPr/>
          <p:nvPr/>
        </p:nvSpPr>
        <p:spPr>
          <a:xfrm rot="16200000">
            <a:off x="4804664" y="4651248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1" name="Connector 109">
            <a:extLst>
              <a:ext uri="{FF2B5EF4-FFF2-40B4-BE49-F238E27FC236}">
                <a16:creationId xmlns:a16="http://schemas.microsoft.com/office/drawing/2014/main" id="{CBA495C3-8F7B-B3E2-986F-336CE33462F4}"/>
              </a:ext>
            </a:extLst>
          </p:cNvPr>
          <p:cNvCxnSpPr>
            <a:cxnSpLocks/>
            <a:endCxn id="441" idx="4"/>
          </p:cNvCxnSpPr>
          <p:nvPr/>
        </p:nvCxnSpPr>
        <p:spPr>
          <a:xfrm>
            <a:off x="10370058" y="3954311"/>
            <a:ext cx="0" cy="2282756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C7516682-5950-33A2-1474-F21B7F6F92BF}"/>
              </a:ext>
            </a:extLst>
          </p:cNvPr>
          <p:cNvSpPr txBox="1"/>
          <p:nvPr/>
        </p:nvSpPr>
        <p:spPr>
          <a:xfrm>
            <a:off x="9331959" y="5949138"/>
            <a:ext cx="935229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80" b="0" dirty="0">
                <a:solidFill>
                  <a:srgbClr val="3B68D9"/>
                </a:solidFill>
                <a:latin typeface="Calibri"/>
              </a:rPr>
              <a:t>/</a:t>
            </a:r>
            <a:r>
              <a:rPr lang="en-US" sz="980" b="0" dirty="0">
                <a:solidFill>
                  <a:srgbClr val="3B68D9"/>
                </a:solidFill>
                <a:latin typeface="Calibri"/>
              </a:rPr>
              <a:t>cmd_vel</a:t>
            </a:r>
            <a:endParaRPr sz="980" b="0" dirty="0">
              <a:solidFill>
                <a:srgbClr val="3B68D9"/>
              </a:solidFill>
              <a:latin typeface="Calibri"/>
            </a:endParaRPr>
          </a:p>
        </p:txBody>
      </p:sp>
      <p:cxnSp>
        <p:nvCxnSpPr>
          <p:cNvPr id="293" name="Connector 113">
            <a:extLst>
              <a:ext uri="{FF2B5EF4-FFF2-40B4-BE49-F238E27FC236}">
                <a16:creationId xmlns:a16="http://schemas.microsoft.com/office/drawing/2014/main" id="{42921C7A-EBCD-5C4E-1113-AF31D2F236BA}"/>
              </a:ext>
            </a:extLst>
          </p:cNvPr>
          <p:cNvCxnSpPr>
            <a:cxnSpLocks/>
          </p:cNvCxnSpPr>
          <p:nvPr/>
        </p:nvCxnSpPr>
        <p:spPr>
          <a:xfrm>
            <a:off x="1042416" y="1115568"/>
            <a:ext cx="0" cy="5113112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Isosceles Triangle 293">
            <a:extLst>
              <a:ext uri="{FF2B5EF4-FFF2-40B4-BE49-F238E27FC236}">
                <a16:creationId xmlns:a16="http://schemas.microsoft.com/office/drawing/2014/main" id="{DD7EDC6A-449B-EFC1-34CA-C7CBA7F12113}"/>
              </a:ext>
            </a:extLst>
          </p:cNvPr>
          <p:cNvSpPr/>
          <p:nvPr/>
        </p:nvSpPr>
        <p:spPr>
          <a:xfrm rot="5400000">
            <a:off x="2894076" y="4593336"/>
            <a:ext cx="91440" cy="91440"/>
          </a:xfrm>
          <a:prstGeom prst="triangle">
            <a:avLst/>
          </a:prstGeom>
          <a:solidFill>
            <a:srgbClr val="8258C4"/>
          </a:solidFill>
          <a:ln>
            <a:solidFill>
              <a:srgbClr val="825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A54F0416-09D3-71C9-D389-88E7739897EA}"/>
              </a:ext>
            </a:extLst>
          </p:cNvPr>
          <p:cNvSpPr txBox="1"/>
          <p:nvPr/>
        </p:nvSpPr>
        <p:spPr>
          <a:xfrm>
            <a:off x="198610" y="2718641"/>
            <a:ext cx="983506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n-US" sz="1000" b="0" dirty="0">
                <a:solidFill>
                  <a:srgbClr val="7030A0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7030A0"/>
                </a:solidFill>
                <a:latin typeface="Calibri"/>
              </a:rPr>
              <a:t>cmd_vel_joy</a:t>
            </a:r>
            <a:endParaRPr lang="en-US" sz="1000" b="0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05E7890D-DE54-87B6-6D9C-28465E0CC419}"/>
              </a:ext>
            </a:extLst>
          </p:cNvPr>
          <p:cNvSpPr txBox="1"/>
          <p:nvPr/>
        </p:nvSpPr>
        <p:spPr>
          <a:xfrm>
            <a:off x="1729190" y="3533720"/>
            <a:ext cx="749808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980" b="0" dirty="0">
                <a:solidFill>
                  <a:srgbClr val="7030A0"/>
                </a:solidFill>
                <a:latin typeface="Calibri"/>
              </a:rPr>
              <a:t>/</a:t>
            </a:r>
            <a:r>
              <a:rPr sz="980" b="0" dirty="0" err="1">
                <a:solidFill>
                  <a:srgbClr val="7030A0"/>
                </a:solidFill>
                <a:latin typeface="Calibri"/>
              </a:rPr>
              <a:t>goal_pose</a:t>
            </a:r>
            <a:endParaRPr sz="980" b="0" dirty="0">
              <a:solidFill>
                <a:srgbClr val="7030A0"/>
              </a:solidFill>
              <a:latin typeface="Calibri"/>
            </a:endParaRPr>
          </a:p>
        </p:txBody>
      </p:sp>
      <p:cxnSp>
        <p:nvCxnSpPr>
          <p:cNvPr id="297" name="Connector 124">
            <a:extLst>
              <a:ext uri="{FF2B5EF4-FFF2-40B4-BE49-F238E27FC236}">
                <a16:creationId xmlns:a16="http://schemas.microsoft.com/office/drawing/2014/main" id="{094D3877-9598-7BF7-B5A0-6DAD9766F830}"/>
              </a:ext>
            </a:extLst>
          </p:cNvPr>
          <p:cNvCxnSpPr>
            <a:cxnSpLocks/>
          </p:cNvCxnSpPr>
          <p:nvPr/>
        </p:nvCxnSpPr>
        <p:spPr>
          <a:xfrm>
            <a:off x="1042416" y="6239175"/>
            <a:ext cx="6754826" cy="21045"/>
          </a:xfrm>
          <a:prstGeom prst="line">
            <a:avLst/>
          </a:prstGeom>
          <a:ln w="1778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126">
            <a:extLst>
              <a:ext uri="{FF2B5EF4-FFF2-40B4-BE49-F238E27FC236}">
                <a16:creationId xmlns:a16="http://schemas.microsoft.com/office/drawing/2014/main" id="{18893ED7-7C5E-645E-0CBC-E02399AAA0F8}"/>
              </a:ext>
            </a:extLst>
          </p:cNvPr>
          <p:cNvCxnSpPr>
            <a:cxnSpLocks/>
          </p:cNvCxnSpPr>
          <p:nvPr/>
        </p:nvCxnSpPr>
        <p:spPr>
          <a:xfrm>
            <a:off x="2446513" y="7218679"/>
            <a:ext cx="2222752" cy="0"/>
          </a:xfrm>
          <a:prstGeom prst="line">
            <a:avLst/>
          </a:prstGeom>
          <a:ln w="19050">
            <a:solidFill>
              <a:srgbClr val="3B68D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9" name="Isosceles Triangle 298">
            <a:extLst>
              <a:ext uri="{FF2B5EF4-FFF2-40B4-BE49-F238E27FC236}">
                <a16:creationId xmlns:a16="http://schemas.microsoft.com/office/drawing/2014/main" id="{2D839B63-4A13-94AD-37ED-2691D6FE121F}"/>
              </a:ext>
            </a:extLst>
          </p:cNvPr>
          <p:cNvSpPr/>
          <p:nvPr/>
        </p:nvSpPr>
        <p:spPr>
          <a:xfrm rot="5400000">
            <a:off x="7705802" y="6214500"/>
            <a:ext cx="91440" cy="91440"/>
          </a:xfrm>
          <a:prstGeom prst="triangle">
            <a:avLst/>
          </a:prstGeom>
          <a:solidFill>
            <a:srgbClr val="8258C4"/>
          </a:solidFill>
          <a:ln>
            <a:solidFill>
              <a:srgbClr val="825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E45EBC00-4E47-971F-3DCF-3D130A26FDB2}"/>
              </a:ext>
            </a:extLst>
          </p:cNvPr>
          <p:cNvSpPr txBox="1"/>
          <p:nvPr/>
        </p:nvSpPr>
        <p:spPr>
          <a:xfrm>
            <a:off x="2790428" y="7013447"/>
            <a:ext cx="1475232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00" dirty="0">
                <a:solidFill>
                  <a:srgbClr val="3B68D9"/>
                </a:solidFill>
              </a:rPr>
              <a:t>serial USB</a:t>
            </a:r>
            <a:endParaRPr sz="980" b="0" dirty="0">
              <a:solidFill>
                <a:srgbClr val="3B68D9"/>
              </a:solidFill>
              <a:latin typeface="Calibri"/>
            </a:endParaRPr>
          </a:p>
        </p:txBody>
      </p:sp>
      <p:sp>
        <p:nvSpPr>
          <p:cNvPr id="301" name="Isosceles Triangle 300">
            <a:extLst>
              <a:ext uri="{FF2B5EF4-FFF2-40B4-BE49-F238E27FC236}">
                <a16:creationId xmlns:a16="http://schemas.microsoft.com/office/drawing/2014/main" id="{3D08190F-A2BA-BFAE-FE13-6104F25A413B}"/>
              </a:ext>
            </a:extLst>
          </p:cNvPr>
          <p:cNvSpPr/>
          <p:nvPr/>
        </p:nvSpPr>
        <p:spPr>
          <a:xfrm rot="16200000">
            <a:off x="6503145" y="7129272"/>
            <a:ext cx="91440" cy="91440"/>
          </a:xfrm>
          <a:prstGeom prst="triangle">
            <a:avLst/>
          </a:prstGeom>
          <a:solidFill>
            <a:srgbClr val="3C69DC"/>
          </a:solidFill>
          <a:ln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C095DB13-9E24-C380-BABF-CB87384C0DE1}"/>
              </a:ext>
            </a:extLst>
          </p:cNvPr>
          <p:cNvSpPr txBox="1"/>
          <p:nvPr/>
        </p:nvSpPr>
        <p:spPr>
          <a:xfrm>
            <a:off x="6601061" y="6936313"/>
            <a:ext cx="1868296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00" b="0" dirty="0">
                <a:solidFill>
                  <a:srgbClr val="002060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002060"/>
                </a:solidFill>
                <a:latin typeface="Calibri"/>
              </a:rPr>
              <a:t>diff_cont</a:t>
            </a:r>
            <a:r>
              <a:rPr lang="en-US" sz="1000" b="0" dirty="0">
                <a:solidFill>
                  <a:srgbClr val="002060"/>
                </a:solidFill>
                <a:latin typeface="Calibri"/>
              </a:rPr>
              <a:t>/</a:t>
            </a:r>
            <a:r>
              <a:rPr lang="en-US" sz="1000" b="0" dirty="0" err="1">
                <a:solidFill>
                  <a:srgbClr val="002060"/>
                </a:solidFill>
                <a:latin typeface="Calibri"/>
              </a:rPr>
              <a:t>cmd_vel_unstamped</a:t>
            </a:r>
            <a:endParaRPr sz="1000" b="0" dirty="0">
              <a:solidFill>
                <a:srgbClr val="002060"/>
              </a:solidFill>
              <a:latin typeface="Calibri"/>
            </a:endParaRPr>
          </a:p>
        </p:txBody>
      </p:sp>
      <p:cxnSp>
        <p:nvCxnSpPr>
          <p:cNvPr id="303" name="Connector 138">
            <a:extLst>
              <a:ext uri="{FF2B5EF4-FFF2-40B4-BE49-F238E27FC236}">
                <a16:creationId xmlns:a16="http://schemas.microsoft.com/office/drawing/2014/main" id="{D1D2F736-5CAA-E999-5CFF-325171B98DC3}"/>
              </a:ext>
            </a:extLst>
          </p:cNvPr>
          <p:cNvCxnSpPr/>
          <p:nvPr/>
        </p:nvCxnSpPr>
        <p:spPr>
          <a:xfrm>
            <a:off x="3302745" y="8138160"/>
            <a:ext cx="1371600" cy="0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Isosceles Triangle 303">
            <a:extLst>
              <a:ext uri="{FF2B5EF4-FFF2-40B4-BE49-F238E27FC236}">
                <a16:creationId xmlns:a16="http://schemas.microsoft.com/office/drawing/2014/main" id="{441B98CE-9B13-3DB3-FAC3-191C89295F8F}"/>
              </a:ext>
            </a:extLst>
          </p:cNvPr>
          <p:cNvSpPr/>
          <p:nvPr/>
        </p:nvSpPr>
        <p:spPr>
          <a:xfrm rot="5400000">
            <a:off x="4585953" y="8092440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Isosceles Triangle 304">
            <a:extLst>
              <a:ext uri="{FF2B5EF4-FFF2-40B4-BE49-F238E27FC236}">
                <a16:creationId xmlns:a16="http://schemas.microsoft.com/office/drawing/2014/main" id="{F92287E8-65DA-74E5-A650-49BF092034A2}"/>
              </a:ext>
            </a:extLst>
          </p:cNvPr>
          <p:cNvSpPr/>
          <p:nvPr/>
        </p:nvSpPr>
        <p:spPr>
          <a:xfrm rot="16200000">
            <a:off x="3295887" y="8092440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6" name="Connector 142">
            <a:extLst>
              <a:ext uri="{FF2B5EF4-FFF2-40B4-BE49-F238E27FC236}">
                <a16:creationId xmlns:a16="http://schemas.microsoft.com/office/drawing/2014/main" id="{25AACFB7-E810-3680-6877-0543FE2694BD}"/>
              </a:ext>
            </a:extLst>
          </p:cNvPr>
          <p:cNvCxnSpPr/>
          <p:nvPr/>
        </p:nvCxnSpPr>
        <p:spPr>
          <a:xfrm>
            <a:off x="6375129" y="8138160"/>
            <a:ext cx="658368" cy="0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Isosceles Triangle 306">
            <a:extLst>
              <a:ext uri="{FF2B5EF4-FFF2-40B4-BE49-F238E27FC236}">
                <a16:creationId xmlns:a16="http://schemas.microsoft.com/office/drawing/2014/main" id="{2F96A201-F708-D246-2B75-D1611951B1C7}"/>
              </a:ext>
            </a:extLst>
          </p:cNvPr>
          <p:cNvSpPr/>
          <p:nvPr/>
        </p:nvSpPr>
        <p:spPr>
          <a:xfrm rot="5400000">
            <a:off x="6952725" y="8092440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8" name="Connector 144">
            <a:extLst>
              <a:ext uri="{FF2B5EF4-FFF2-40B4-BE49-F238E27FC236}">
                <a16:creationId xmlns:a16="http://schemas.microsoft.com/office/drawing/2014/main" id="{93BA3431-597A-6C59-16AA-DD8E21ED3B9C}"/>
              </a:ext>
            </a:extLst>
          </p:cNvPr>
          <p:cNvCxnSpPr/>
          <p:nvPr/>
        </p:nvCxnSpPr>
        <p:spPr>
          <a:xfrm>
            <a:off x="8953737" y="8138160"/>
            <a:ext cx="329184" cy="0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Isosceles Triangle 308">
            <a:extLst>
              <a:ext uri="{FF2B5EF4-FFF2-40B4-BE49-F238E27FC236}">
                <a16:creationId xmlns:a16="http://schemas.microsoft.com/office/drawing/2014/main" id="{CD250B0D-3F5C-0C23-F78D-9B43CBB7D51B}"/>
              </a:ext>
            </a:extLst>
          </p:cNvPr>
          <p:cNvSpPr/>
          <p:nvPr/>
        </p:nvSpPr>
        <p:spPr>
          <a:xfrm rot="5400000">
            <a:off x="9186909" y="8092440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0" name="Connector 146">
            <a:extLst>
              <a:ext uri="{FF2B5EF4-FFF2-40B4-BE49-F238E27FC236}">
                <a16:creationId xmlns:a16="http://schemas.microsoft.com/office/drawing/2014/main" id="{9F34C4DF-39F5-5E1D-5460-1D24185DE197}"/>
              </a:ext>
            </a:extLst>
          </p:cNvPr>
          <p:cNvCxnSpPr/>
          <p:nvPr/>
        </p:nvCxnSpPr>
        <p:spPr>
          <a:xfrm>
            <a:off x="9886425" y="8485632"/>
            <a:ext cx="0" cy="310896"/>
          </a:xfrm>
          <a:prstGeom prst="line">
            <a:avLst/>
          </a:prstGeom>
          <a:ln w="1905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147">
            <a:extLst>
              <a:ext uri="{FF2B5EF4-FFF2-40B4-BE49-F238E27FC236}">
                <a16:creationId xmlns:a16="http://schemas.microsoft.com/office/drawing/2014/main" id="{69E9A4EA-276E-4081-6B66-42CFD23BFBC4}"/>
              </a:ext>
            </a:extLst>
          </p:cNvPr>
          <p:cNvCxnSpPr/>
          <p:nvPr/>
        </p:nvCxnSpPr>
        <p:spPr>
          <a:xfrm flipH="1">
            <a:off x="2571225" y="8796528"/>
            <a:ext cx="7315200" cy="0"/>
          </a:xfrm>
          <a:prstGeom prst="line">
            <a:avLst/>
          </a:prstGeom>
          <a:ln w="1905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148">
            <a:extLst>
              <a:ext uri="{FF2B5EF4-FFF2-40B4-BE49-F238E27FC236}">
                <a16:creationId xmlns:a16="http://schemas.microsoft.com/office/drawing/2014/main" id="{CC959668-6274-24AA-4EEE-7F03AECEDF40}"/>
              </a:ext>
            </a:extLst>
          </p:cNvPr>
          <p:cNvCxnSpPr/>
          <p:nvPr/>
        </p:nvCxnSpPr>
        <p:spPr>
          <a:xfrm flipV="1">
            <a:off x="2571225" y="8485632"/>
            <a:ext cx="0" cy="310896"/>
          </a:xfrm>
          <a:prstGeom prst="line">
            <a:avLst/>
          </a:prstGeom>
          <a:ln w="1905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Isosceles Triangle 312">
            <a:extLst>
              <a:ext uri="{FF2B5EF4-FFF2-40B4-BE49-F238E27FC236}">
                <a16:creationId xmlns:a16="http://schemas.microsoft.com/office/drawing/2014/main" id="{A98704EA-0EEB-B247-C7AC-43BB39E4A7C8}"/>
              </a:ext>
            </a:extLst>
          </p:cNvPr>
          <p:cNvSpPr/>
          <p:nvPr/>
        </p:nvSpPr>
        <p:spPr>
          <a:xfrm>
            <a:off x="2525505" y="8482584"/>
            <a:ext cx="91440" cy="91440"/>
          </a:xfrm>
          <a:prstGeom prst="triangle">
            <a:avLst/>
          </a:prstGeom>
          <a:solidFill>
            <a:srgbClr val="3C69DC"/>
          </a:solidFill>
          <a:ln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Isosceles Triangle 313">
            <a:extLst>
              <a:ext uri="{FF2B5EF4-FFF2-40B4-BE49-F238E27FC236}">
                <a16:creationId xmlns:a16="http://schemas.microsoft.com/office/drawing/2014/main" id="{A3C76142-5BFC-31F5-3708-966A9CDFF83F}"/>
              </a:ext>
            </a:extLst>
          </p:cNvPr>
          <p:cNvSpPr/>
          <p:nvPr/>
        </p:nvSpPr>
        <p:spPr>
          <a:xfrm rot="10800000" flipV="1">
            <a:off x="3342877" y="1141984"/>
            <a:ext cx="91440" cy="91440"/>
          </a:xfrm>
          <a:prstGeom prst="triangle">
            <a:avLst/>
          </a:prstGeom>
          <a:solidFill>
            <a:srgbClr val="8258C4"/>
          </a:solidFill>
          <a:ln>
            <a:solidFill>
              <a:srgbClr val="825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5" name="Connector 78">
            <a:extLst>
              <a:ext uri="{FF2B5EF4-FFF2-40B4-BE49-F238E27FC236}">
                <a16:creationId xmlns:a16="http://schemas.microsoft.com/office/drawing/2014/main" id="{F7418D9F-F94C-6F0A-C3C9-E7C8B10CE8B7}"/>
              </a:ext>
            </a:extLst>
          </p:cNvPr>
          <p:cNvCxnSpPr>
            <a:cxnSpLocks/>
          </p:cNvCxnSpPr>
          <p:nvPr/>
        </p:nvCxnSpPr>
        <p:spPr>
          <a:xfrm>
            <a:off x="5545836" y="2715387"/>
            <a:ext cx="5334" cy="219076"/>
          </a:xfrm>
          <a:prstGeom prst="line">
            <a:avLst/>
          </a:prstGeom>
          <a:ln w="1651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78">
            <a:extLst>
              <a:ext uri="{FF2B5EF4-FFF2-40B4-BE49-F238E27FC236}">
                <a16:creationId xmlns:a16="http://schemas.microsoft.com/office/drawing/2014/main" id="{23FBE8B0-76CE-532E-D467-A02EED49BFB0}"/>
              </a:ext>
            </a:extLst>
          </p:cNvPr>
          <p:cNvCxnSpPr>
            <a:cxnSpLocks/>
          </p:cNvCxnSpPr>
          <p:nvPr/>
        </p:nvCxnSpPr>
        <p:spPr>
          <a:xfrm>
            <a:off x="4892802" y="2934463"/>
            <a:ext cx="658368" cy="0"/>
          </a:xfrm>
          <a:prstGeom prst="line">
            <a:avLst/>
          </a:prstGeom>
          <a:ln w="1651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126">
            <a:extLst>
              <a:ext uri="{FF2B5EF4-FFF2-40B4-BE49-F238E27FC236}">
                <a16:creationId xmlns:a16="http://schemas.microsoft.com/office/drawing/2014/main" id="{81632A96-A9A2-0057-B14E-11A02B7534CD}"/>
              </a:ext>
            </a:extLst>
          </p:cNvPr>
          <p:cNvCxnSpPr>
            <a:cxnSpLocks/>
            <a:endCxn id="226" idx="0"/>
          </p:cNvCxnSpPr>
          <p:nvPr/>
        </p:nvCxnSpPr>
        <p:spPr>
          <a:xfrm>
            <a:off x="2434065" y="7218679"/>
            <a:ext cx="0" cy="553721"/>
          </a:xfrm>
          <a:prstGeom prst="line">
            <a:avLst/>
          </a:prstGeom>
          <a:ln w="19050">
            <a:solidFill>
              <a:srgbClr val="3B68D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" name="Isosceles Triangle 317">
            <a:extLst>
              <a:ext uri="{FF2B5EF4-FFF2-40B4-BE49-F238E27FC236}">
                <a16:creationId xmlns:a16="http://schemas.microsoft.com/office/drawing/2014/main" id="{FCFBAD8E-F761-1FCE-CFC2-7F8D0C6FCD42}"/>
              </a:ext>
            </a:extLst>
          </p:cNvPr>
          <p:cNvSpPr/>
          <p:nvPr/>
        </p:nvSpPr>
        <p:spPr>
          <a:xfrm rot="10800000">
            <a:off x="2382858" y="7680960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Isosceles Triangle 318">
            <a:extLst>
              <a:ext uri="{FF2B5EF4-FFF2-40B4-BE49-F238E27FC236}">
                <a16:creationId xmlns:a16="http://schemas.microsoft.com/office/drawing/2014/main" id="{A48CA839-7FE3-9B5A-576C-335DF183A529}"/>
              </a:ext>
            </a:extLst>
          </p:cNvPr>
          <p:cNvSpPr/>
          <p:nvPr/>
        </p:nvSpPr>
        <p:spPr>
          <a:xfrm rot="16200000">
            <a:off x="8851122" y="2801112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Isosceles Triangle 320">
            <a:extLst>
              <a:ext uri="{FF2B5EF4-FFF2-40B4-BE49-F238E27FC236}">
                <a16:creationId xmlns:a16="http://schemas.microsoft.com/office/drawing/2014/main" id="{094547E5-951C-789D-BC75-53432F7726CE}"/>
              </a:ext>
            </a:extLst>
          </p:cNvPr>
          <p:cNvSpPr/>
          <p:nvPr/>
        </p:nvSpPr>
        <p:spPr>
          <a:xfrm rot="16200000" flipV="1">
            <a:off x="7459453" y="4644443"/>
            <a:ext cx="91440" cy="91440"/>
          </a:xfrm>
          <a:prstGeom prst="triangle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D9A8BCC-CA90-E8B0-6AE2-8B83FB8FCA82}"/>
              </a:ext>
            </a:extLst>
          </p:cNvPr>
          <p:cNvSpPr txBox="1"/>
          <p:nvPr/>
        </p:nvSpPr>
        <p:spPr>
          <a:xfrm>
            <a:off x="6504905" y="4485523"/>
            <a:ext cx="819575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900" b="0" dirty="0">
                <a:solidFill>
                  <a:srgbClr val="282828"/>
                </a:solidFill>
                <a:latin typeface="Calibri"/>
              </a:rPr>
              <a:t>Plan global</a:t>
            </a:r>
            <a:endParaRPr sz="900" b="0" dirty="0">
              <a:solidFill>
                <a:srgbClr val="282828"/>
              </a:solidFill>
              <a:latin typeface="Calibri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7CDB603D-262B-7552-AD6E-4335500B7C16}"/>
              </a:ext>
            </a:extLst>
          </p:cNvPr>
          <p:cNvSpPr txBox="1"/>
          <p:nvPr/>
        </p:nvSpPr>
        <p:spPr>
          <a:xfrm>
            <a:off x="6082522" y="1747171"/>
            <a:ext cx="466343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002060"/>
                </a:solidFill>
                <a:latin typeface="Calibri"/>
              </a:rPr>
              <a:t>/scan</a:t>
            </a:r>
          </a:p>
        </p:txBody>
      </p:sp>
      <p:cxnSp>
        <p:nvCxnSpPr>
          <p:cNvPr id="325" name="Connector 113">
            <a:extLst>
              <a:ext uri="{FF2B5EF4-FFF2-40B4-BE49-F238E27FC236}">
                <a16:creationId xmlns:a16="http://schemas.microsoft.com/office/drawing/2014/main" id="{E643EAA0-C6A4-D0F6-60CC-329C10A96EEF}"/>
              </a:ext>
            </a:extLst>
          </p:cNvPr>
          <p:cNvCxnSpPr>
            <a:cxnSpLocks/>
          </p:cNvCxnSpPr>
          <p:nvPr/>
        </p:nvCxnSpPr>
        <p:spPr>
          <a:xfrm>
            <a:off x="2458974" y="1982978"/>
            <a:ext cx="0" cy="2654554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113">
            <a:extLst>
              <a:ext uri="{FF2B5EF4-FFF2-40B4-BE49-F238E27FC236}">
                <a16:creationId xmlns:a16="http://schemas.microsoft.com/office/drawing/2014/main" id="{3998415F-0310-EF80-AD4F-2375560B22BA}"/>
              </a:ext>
            </a:extLst>
          </p:cNvPr>
          <p:cNvCxnSpPr>
            <a:cxnSpLocks/>
          </p:cNvCxnSpPr>
          <p:nvPr/>
        </p:nvCxnSpPr>
        <p:spPr>
          <a:xfrm>
            <a:off x="1767840" y="1101852"/>
            <a:ext cx="0" cy="1577340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113">
            <a:extLst>
              <a:ext uri="{FF2B5EF4-FFF2-40B4-BE49-F238E27FC236}">
                <a16:creationId xmlns:a16="http://schemas.microsoft.com/office/drawing/2014/main" id="{1A7182F2-6094-BAC8-EED4-EE354F1DDCCD}"/>
              </a:ext>
            </a:extLst>
          </p:cNvPr>
          <p:cNvCxnSpPr>
            <a:cxnSpLocks/>
          </p:cNvCxnSpPr>
          <p:nvPr/>
        </p:nvCxnSpPr>
        <p:spPr>
          <a:xfrm flipV="1">
            <a:off x="1767840" y="2659380"/>
            <a:ext cx="691134" cy="3048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113">
            <a:extLst>
              <a:ext uri="{FF2B5EF4-FFF2-40B4-BE49-F238E27FC236}">
                <a16:creationId xmlns:a16="http://schemas.microsoft.com/office/drawing/2014/main" id="{CAB0F2C4-C467-455B-2DD3-96F5DA66D832}"/>
              </a:ext>
            </a:extLst>
          </p:cNvPr>
          <p:cNvCxnSpPr>
            <a:cxnSpLocks/>
          </p:cNvCxnSpPr>
          <p:nvPr/>
        </p:nvCxnSpPr>
        <p:spPr>
          <a:xfrm>
            <a:off x="2458974" y="4637532"/>
            <a:ext cx="497967" cy="0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129">
            <a:extLst>
              <a:ext uri="{FF2B5EF4-FFF2-40B4-BE49-F238E27FC236}">
                <a16:creationId xmlns:a16="http://schemas.microsoft.com/office/drawing/2014/main" id="{7B53A8CC-9B51-2F70-399F-9988559E81A0}"/>
              </a:ext>
            </a:extLst>
          </p:cNvPr>
          <p:cNvCxnSpPr>
            <a:cxnSpLocks/>
            <a:stCxn id="225" idx="3"/>
          </p:cNvCxnSpPr>
          <p:nvPr/>
        </p:nvCxnSpPr>
        <p:spPr>
          <a:xfrm>
            <a:off x="6503145" y="7173468"/>
            <a:ext cx="2062193" cy="0"/>
          </a:xfrm>
          <a:prstGeom prst="line">
            <a:avLst/>
          </a:prstGeom>
          <a:ln w="2286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110">
            <a:extLst>
              <a:ext uri="{FF2B5EF4-FFF2-40B4-BE49-F238E27FC236}">
                <a16:creationId xmlns:a16="http://schemas.microsoft.com/office/drawing/2014/main" id="{5BEF3EBE-F594-1EE5-AFB0-5F3B83DB322E}"/>
              </a:ext>
            </a:extLst>
          </p:cNvPr>
          <p:cNvCxnSpPr>
            <a:cxnSpLocks/>
          </p:cNvCxnSpPr>
          <p:nvPr/>
        </p:nvCxnSpPr>
        <p:spPr>
          <a:xfrm flipH="1">
            <a:off x="9333434" y="6187025"/>
            <a:ext cx="2296153" cy="12318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90">
            <a:extLst>
              <a:ext uri="{FF2B5EF4-FFF2-40B4-BE49-F238E27FC236}">
                <a16:creationId xmlns:a16="http://schemas.microsoft.com/office/drawing/2014/main" id="{EF3A5A33-6F1E-FA86-F1E8-B1AFE8540B7C}"/>
              </a:ext>
            </a:extLst>
          </p:cNvPr>
          <p:cNvCxnSpPr>
            <a:cxnSpLocks/>
          </p:cNvCxnSpPr>
          <p:nvPr/>
        </p:nvCxnSpPr>
        <p:spPr>
          <a:xfrm flipH="1">
            <a:off x="3101695" y="5540248"/>
            <a:ext cx="671727" cy="0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113">
            <a:extLst>
              <a:ext uri="{FF2B5EF4-FFF2-40B4-BE49-F238E27FC236}">
                <a16:creationId xmlns:a16="http://schemas.microsoft.com/office/drawing/2014/main" id="{B385514C-CC45-F95A-AFD1-A8431102832F}"/>
              </a:ext>
            </a:extLst>
          </p:cNvPr>
          <p:cNvCxnSpPr>
            <a:cxnSpLocks/>
          </p:cNvCxnSpPr>
          <p:nvPr/>
        </p:nvCxnSpPr>
        <p:spPr>
          <a:xfrm>
            <a:off x="2453131" y="1992884"/>
            <a:ext cx="440945" cy="508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113">
            <a:extLst>
              <a:ext uri="{FF2B5EF4-FFF2-40B4-BE49-F238E27FC236}">
                <a16:creationId xmlns:a16="http://schemas.microsoft.com/office/drawing/2014/main" id="{CA913614-003E-CE0D-3F79-2D23E463F757}"/>
              </a:ext>
            </a:extLst>
          </p:cNvPr>
          <p:cNvCxnSpPr>
            <a:cxnSpLocks/>
          </p:cNvCxnSpPr>
          <p:nvPr/>
        </p:nvCxnSpPr>
        <p:spPr>
          <a:xfrm>
            <a:off x="2881122" y="1101852"/>
            <a:ext cx="0" cy="891540"/>
          </a:xfrm>
          <a:prstGeom prst="line">
            <a:avLst/>
          </a:prstGeom>
          <a:ln w="20320">
            <a:solidFill>
              <a:srgbClr val="825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Isosceles Triangle 335">
            <a:extLst>
              <a:ext uri="{FF2B5EF4-FFF2-40B4-BE49-F238E27FC236}">
                <a16:creationId xmlns:a16="http://schemas.microsoft.com/office/drawing/2014/main" id="{C1FA4F54-AD54-8EB0-82BD-FB030188E14E}"/>
              </a:ext>
            </a:extLst>
          </p:cNvPr>
          <p:cNvSpPr/>
          <p:nvPr/>
        </p:nvSpPr>
        <p:spPr>
          <a:xfrm rot="16200000">
            <a:off x="9328558" y="6153623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4" name="Connector 78">
            <a:extLst>
              <a:ext uri="{FF2B5EF4-FFF2-40B4-BE49-F238E27FC236}">
                <a16:creationId xmlns:a16="http://schemas.microsoft.com/office/drawing/2014/main" id="{FBBA750A-D90F-C703-D8C5-8DB3CE41B438}"/>
              </a:ext>
            </a:extLst>
          </p:cNvPr>
          <p:cNvCxnSpPr>
            <a:cxnSpLocks/>
          </p:cNvCxnSpPr>
          <p:nvPr/>
        </p:nvCxnSpPr>
        <p:spPr>
          <a:xfrm>
            <a:off x="4869942" y="3448813"/>
            <a:ext cx="2993165" cy="0"/>
          </a:xfrm>
          <a:prstGeom prst="line">
            <a:avLst/>
          </a:prstGeom>
          <a:ln w="1651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84">
            <a:extLst>
              <a:ext uri="{FF2B5EF4-FFF2-40B4-BE49-F238E27FC236}">
                <a16:creationId xmlns:a16="http://schemas.microsoft.com/office/drawing/2014/main" id="{4EC64D6A-C942-5D8D-E8F3-94EAAD373420}"/>
              </a:ext>
            </a:extLst>
          </p:cNvPr>
          <p:cNvCxnSpPr>
            <a:cxnSpLocks/>
            <a:endCxn id="358" idx="3"/>
          </p:cNvCxnSpPr>
          <p:nvPr/>
        </p:nvCxnSpPr>
        <p:spPr>
          <a:xfrm>
            <a:off x="7863107" y="3439412"/>
            <a:ext cx="0" cy="637809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Isosceles Triangle 357">
            <a:extLst>
              <a:ext uri="{FF2B5EF4-FFF2-40B4-BE49-F238E27FC236}">
                <a16:creationId xmlns:a16="http://schemas.microsoft.com/office/drawing/2014/main" id="{0F2EC59A-A206-E87B-1F9C-4F0B91BC5C8F}"/>
              </a:ext>
            </a:extLst>
          </p:cNvPr>
          <p:cNvSpPr/>
          <p:nvPr/>
        </p:nvSpPr>
        <p:spPr>
          <a:xfrm rot="10800000">
            <a:off x="7817387" y="4077221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FCEF5F43-99B0-7233-0D6D-64D808AE4B04}"/>
              </a:ext>
            </a:extLst>
          </p:cNvPr>
          <p:cNvSpPr txBox="1"/>
          <p:nvPr/>
        </p:nvSpPr>
        <p:spPr>
          <a:xfrm>
            <a:off x="6124957" y="3266723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282828"/>
                </a:solidFill>
                <a:latin typeface="Calibri"/>
              </a:rPr>
              <a:t>/map</a:t>
            </a:r>
          </a:p>
        </p:txBody>
      </p:sp>
      <p:sp>
        <p:nvSpPr>
          <p:cNvPr id="364" name="Isosceles Triangle 363">
            <a:extLst>
              <a:ext uri="{FF2B5EF4-FFF2-40B4-BE49-F238E27FC236}">
                <a16:creationId xmlns:a16="http://schemas.microsoft.com/office/drawing/2014/main" id="{03EF39BB-E079-B514-0531-58EB41348F6D}"/>
              </a:ext>
            </a:extLst>
          </p:cNvPr>
          <p:cNvSpPr/>
          <p:nvPr/>
        </p:nvSpPr>
        <p:spPr>
          <a:xfrm rot="5400000">
            <a:off x="4586692" y="7178802"/>
            <a:ext cx="91440" cy="91440"/>
          </a:xfrm>
          <a:prstGeom prst="triangl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Isosceles Triangle 373">
            <a:extLst>
              <a:ext uri="{FF2B5EF4-FFF2-40B4-BE49-F238E27FC236}">
                <a16:creationId xmlns:a16="http://schemas.microsoft.com/office/drawing/2014/main" id="{EC66DA2F-A86D-2E21-7034-8C7C41B450A4}"/>
              </a:ext>
            </a:extLst>
          </p:cNvPr>
          <p:cNvSpPr/>
          <p:nvPr/>
        </p:nvSpPr>
        <p:spPr>
          <a:xfrm rot="5400000">
            <a:off x="9553845" y="3598183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6" name="Connector 129">
            <a:extLst>
              <a:ext uri="{FF2B5EF4-FFF2-40B4-BE49-F238E27FC236}">
                <a16:creationId xmlns:a16="http://schemas.microsoft.com/office/drawing/2014/main" id="{9E7BCD93-C110-C7E4-07C1-2B059EF112E6}"/>
              </a:ext>
            </a:extLst>
          </p:cNvPr>
          <p:cNvCxnSpPr>
            <a:cxnSpLocks/>
          </p:cNvCxnSpPr>
          <p:nvPr/>
        </p:nvCxnSpPr>
        <p:spPr>
          <a:xfrm flipV="1">
            <a:off x="5167740" y="6004560"/>
            <a:ext cx="0" cy="821436"/>
          </a:xfrm>
          <a:prstGeom prst="line">
            <a:avLst/>
          </a:prstGeom>
          <a:ln w="2286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Isosceles Triangle 402">
            <a:extLst>
              <a:ext uri="{FF2B5EF4-FFF2-40B4-BE49-F238E27FC236}">
                <a16:creationId xmlns:a16="http://schemas.microsoft.com/office/drawing/2014/main" id="{E96066E9-A4AF-C8F0-A60A-9C9F5A53FE99}"/>
              </a:ext>
            </a:extLst>
          </p:cNvPr>
          <p:cNvSpPr/>
          <p:nvPr/>
        </p:nvSpPr>
        <p:spPr>
          <a:xfrm>
            <a:off x="5122020" y="5911251"/>
            <a:ext cx="91440" cy="91440"/>
          </a:xfrm>
          <a:prstGeom prst="triangle">
            <a:avLst/>
          </a:prstGeom>
          <a:solidFill>
            <a:srgbClr val="3C69DC"/>
          </a:solidFill>
          <a:ln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7" name="Rounded Rectangle 18">
            <a:extLst>
              <a:ext uri="{FF2B5EF4-FFF2-40B4-BE49-F238E27FC236}">
                <a16:creationId xmlns:a16="http://schemas.microsoft.com/office/drawing/2014/main" id="{506D9ED2-7289-ABBF-BF4A-C424E3E2DEA0}"/>
              </a:ext>
            </a:extLst>
          </p:cNvPr>
          <p:cNvSpPr/>
          <p:nvPr/>
        </p:nvSpPr>
        <p:spPr>
          <a:xfrm>
            <a:off x="10693310" y="5016898"/>
            <a:ext cx="1855116" cy="768096"/>
          </a:xfrm>
          <a:prstGeom prst="roundRect">
            <a:avLst/>
          </a:prstGeom>
          <a:solidFill>
            <a:srgbClr val="EDF7F2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dirty="0" err="1">
                <a:solidFill>
                  <a:srgbClr val="185D3D"/>
                </a:solidFill>
                <a:latin typeface="Calibri"/>
              </a:rPr>
              <a:t>recoveries_server</a:t>
            </a:r>
            <a:endParaRPr lang="en-US" sz="1500" b="1" dirty="0">
              <a:solidFill>
                <a:srgbClr val="185D3D"/>
              </a:solidFill>
              <a:latin typeface="Calibri"/>
            </a:endParaRPr>
          </a:p>
          <a:p>
            <a:pPr algn="ctr"/>
            <a:r>
              <a:rPr lang="es-ES" sz="1100" dirty="0">
                <a:solidFill>
                  <a:srgbClr val="185D3D"/>
                </a:solidFill>
                <a:latin typeface="Calibri"/>
              </a:rPr>
              <a:t>Comportamientos de recuperación</a:t>
            </a:r>
            <a:endParaRPr sz="1100" dirty="0">
              <a:solidFill>
                <a:srgbClr val="185D3D"/>
              </a:solidFill>
              <a:latin typeface="Calibri"/>
            </a:endParaRPr>
          </a:p>
        </p:txBody>
      </p:sp>
      <p:cxnSp>
        <p:nvCxnSpPr>
          <p:cNvPr id="414" name="Connector 97">
            <a:extLst>
              <a:ext uri="{FF2B5EF4-FFF2-40B4-BE49-F238E27FC236}">
                <a16:creationId xmlns:a16="http://schemas.microsoft.com/office/drawing/2014/main" id="{F8B8FD26-8D12-2EC9-7EC5-CCADEB6F7B71}"/>
              </a:ext>
            </a:extLst>
          </p:cNvPr>
          <p:cNvCxnSpPr>
            <a:cxnSpLocks/>
          </p:cNvCxnSpPr>
          <p:nvPr/>
        </p:nvCxnSpPr>
        <p:spPr>
          <a:xfrm>
            <a:off x="4265660" y="5415464"/>
            <a:ext cx="6427650" cy="0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90">
            <a:extLst>
              <a:ext uri="{FF2B5EF4-FFF2-40B4-BE49-F238E27FC236}">
                <a16:creationId xmlns:a16="http://schemas.microsoft.com/office/drawing/2014/main" id="{CCA9FAE8-8FED-C64A-4301-CAC9305631D4}"/>
              </a:ext>
            </a:extLst>
          </p:cNvPr>
          <p:cNvCxnSpPr>
            <a:cxnSpLocks/>
          </p:cNvCxnSpPr>
          <p:nvPr/>
        </p:nvCxnSpPr>
        <p:spPr>
          <a:xfrm>
            <a:off x="4265660" y="4981128"/>
            <a:ext cx="0" cy="435356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Isosceles Triangle 421">
            <a:extLst>
              <a:ext uri="{FF2B5EF4-FFF2-40B4-BE49-F238E27FC236}">
                <a16:creationId xmlns:a16="http://schemas.microsoft.com/office/drawing/2014/main" id="{1C887609-17C7-8FFE-A198-E43406351A3B}"/>
              </a:ext>
            </a:extLst>
          </p:cNvPr>
          <p:cNvSpPr/>
          <p:nvPr/>
        </p:nvSpPr>
        <p:spPr>
          <a:xfrm rot="16200000" flipV="1">
            <a:off x="10601870" y="5369744"/>
            <a:ext cx="91440" cy="91440"/>
          </a:xfrm>
          <a:prstGeom prst="triangle">
            <a:avLst/>
          </a:prstGeom>
          <a:solidFill>
            <a:srgbClr val="5A5A5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7E3EEFE7-6138-497E-F325-1D92496E2B64}"/>
              </a:ext>
            </a:extLst>
          </p:cNvPr>
          <p:cNvSpPr txBox="1"/>
          <p:nvPr/>
        </p:nvSpPr>
        <p:spPr>
          <a:xfrm>
            <a:off x="7167558" y="5416484"/>
            <a:ext cx="1240945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s-ES" sz="900" b="0" dirty="0">
                <a:solidFill>
                  <a:srgbClr val="282828"/>
                </a:solidFill>
                <a:latin typeface="Calibri"/>
              </a:rPr>
              <a:t>Recuperaciones </a:t>
            </a:r>
          </a:p>
        </p:txBody>
      </p:sp>
      <p:cxnSp>
        <p:nvCxnSpPr>
          <p:cNvPr id="425" name="Connector 93">
            <a:extLst>
              <a:ext uri="{FF2B5EF4-FFF2-40B4-BE49-F238E27FC236}">
                <a16:creationId xmlns:a16="http://schemas.microsoft.com/office/drawing/2014/main" id="{0C99AA11-05BE-7E56-44B6-1F145A9D4C18}"/>
              </a:ext>
            </a:extLst>
          </p:cNvPr>
          <p:cNvCxnSpPr>
            <a:cxnSpLocks/>
          </p:cNvCxnSpPr>
          <p:nvPr/>
        </p:nvCxnSpPr>
        <p:spPr>
          <a:xfrm flipH="1">
            <a:off x="8837269" y="2530839"/>
            <a:ext cx="3318098" cy="14368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84">
            <a:extLst>
              <a:ext uri="{FF2B5EF4-FFF2-40B4-BE49-F238E27FC236}">
                <a16:creationId xmlns:a16="http://schemas.microsoft.com/office/drawing/2014/main" id="{9ADEFACB-5BD7-197F-D7EE-C890AA91EDB7}"/>
              </a:ext>
            </a:extLst>
          </p:cNvPr>
          <p:cNvCxnSpPr>
            <a:cxnSpLocks/>
            <a:endCxn id="429" idx="0"/>
          </p:cNvCxnSpPr>
          <p:nvPr/>
        </p:nvCxnSpPr>
        <p:spPr>
          <a:xfrm>
            <a:off x="12155367" y="2545207"/>
            <a:ext cx="0" cy="2478803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Isosceles Triangle 428">
            <a:extLst>
              <a:ext uri="{FF2B5EF4-FFF2-40B4-BE49-F238E27FC236}">
                <a16:creationId xmlns:a16="http://schemas.microsoft.com/office/drawing/2014/main" id="{17A01445-73EA-54C6-7DC2-AB573AADC26B}"/>
              </a:ext>
            </a:extLst>
          </p:cNvPr>
          <p:cNvSpPr/>
          <p:nvPr/>
        </p:nvSpPr>
        <p:spPr>
          <a:xfrm rot="10800000">
            <a:off x="12109647" y="4932570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0AFD5B70-DAD9-D18A-FDCB-0A7A0BC6076B}"/>
              </a:ext>
            </a:extLst>
          </p:cNvPr>
          <p:cNvSpPr txBox="1"/>
          <p:nvPr/>
        </p:nvSpPr>
        <p:spPr>
          <a:xfrm>
            <a:off x="8469357" y="3396211"/>
            <a:ext cx="1421622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980" b="0" dirty="0" err="1">
                <a:solidFill>
                  <a:srgbClr val="282828"/>
                </a:solidFill>
                <a:latin typeface="Calibri"/>
              </a:rPr>
              <a:t>local_costmap</a:t>
            </a:r>
            <a:endParaRPr sz="980" b="0" dirty="0">
              <a:solidFill>
                <a:srgbClr val="282828"/>
              </a:solidFill>
              <a:latin typeface="Calibri"/>
            </a:endParaRPr>
          </a:p>
        </p:txBody>
      </p:sp>
      <p:cxnSp>
        <p:nvCxnSpPr>
          <p:cNvPr id="437" name="Connector 109">
            <a:extLst>
              <a:ext uri="{FF2B5EF4-FFF2-40B4-BE49-F238E27FC236}">
                <a16:creationId xmlns:a16="http://schemas.microsoft.com/office/drawing/2014/main" id="{A8419A0D-D26C-457A-A905-367226ADE6C4}"/>
              </a:ext>
            </a:extLst>
          </p:cNvPr>
          <p:cNvCxnSpPr>
            <a:cxnSpLocks/>
            <a:stCxn id="407" idx="2"/>
          </p:cNvCxnSpPr>
          <p:nvPr/>
        </p:nvCxnSpPr>
        <p:spPr>
          <a:xfrm>
            <a:off x="11620868" y="5784994"/>
            <a:ext cx="8719" cy="407287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Oval 440">
            <a:extLst>
              <a:ext uri="{FF2B5EF4-FFF2-40B4-BE49-F238E27FC236}">
                <a16:creationId xmlns:a16="http://schemas.microsoft.com/office/drawing/2014/main" id="{0B6298C5-06C2-FD10-C62D-01BFA0506BB5}"/>
              </a:ext>
            </a:extLst>
          </p:cNvPr>
          <p:cNvSpPr/>
          <p:nvPr/>
        </p:nvSpPr>
        <p:spPr>
          <a:xfrm>
            <a:off x="10309204" y="6132338"/>
            <a:ext cx="121707" cy="104729"/>
          </a:xfrm>
          <a:prstGeom prst="ellips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121B8475-6B1F-C692-073D-CE56E0904775}"/>
              </a:ext>
            </a:extLst>
          </p:cNvPr>
          <p:cNvSpPr/>
          <p:nvPr/>
        </p:nvSpPr>
        <p:spPr>
          <a:xfrm>
            <a:off x="6048970" y="2110700"/>
            <a:ext cx="121707" cy="104729"/>
          </a:xfrm>
          <a:prstGeom prst="ellipse">
            <a:avLst/>
          </a:prstGeom>
          <a:solidFill>
            <a:srgbClr val="3B68D9"/>
          </a:solidFill>
          <a:ln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7" name="Oval 446">
            <a:extLst>
              <a:ext uri="{FF2B5EF4-FFF2-40B4-BE49-F238E27FC236}">
                <a16:creationId xmlns:a16="http://schemas.microsoft.com/office/drawing/2014/main" id="{E112E3AF-5FF1-BCB0-5E76-2E42202E3057}"/>
              </a:ext>
            </a:extLst>
          </p:cNvPr>
          <p:cNvSpPr/>
          <p:nvPr/>
        </p:nvSpPr>
        <p:spPr>
          <a:xfrm>
            <a:off x="2397801" y="2607015"/>
            <a:ext cx="121707" cy="104729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3" name="Connector 97">
            <a:extLst>
              <a:ext uri="{FF2B5EF4-FFF2-40B4-BE49-F238E27FC236}">
                <a16:creationId xmlns:a16="http://schemas.microsoft.com/office/drawing/2014/main" id="{D023CB31-4271-DE00-5440-1423BA01938F}"/>
              </a:ext>
            </a:extLst>
          </p:cNvPr>
          <p:cNvCxnSpPr>
            <a:cxnSpLocks/>
          </p:cNvCxnSpPr>
          <p:nvPr/>
        </p:nvCxnSpPr>
        <p:spPr>
          <a:xfrm>
            <a:off x="4509519" y="5191453"/>
            <a:ext cx="5482334" cy="0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90">
            <a:extLst>
              <a:ext uri="{FF2B5EF4-FFF2-40B4-BE49-F238E27FC236}">
                <a16:creationId xmlns:a16="http://schemas.microsoft.com/office/drawing/2014/main" id="{7E9CD9FC-AE69-CCF2-4590-997FFB3E276D}"/>
              </a:ext>
            </a:extLst>
          </p:cNvPr>
          <p:cNvCxnSpPr>
            <a:cxnSpLocks/>
          </p:cNvCxnSpPr>
          <p:nvPr/>
        </p:nvCxnSpPr>
        <p:spPr>
          <a:xfrm>
            <a:off x="4514075" y="4986528"/>
            <a:ext cx="0" cy="204925"/>
          </a:xfrm>
          <a:prstGeom prst="line">
            <a:avLst/>
          </a:prstGeom>
          <a:ln w="15240">
            <a:solidFill>
              <a:srgbClr val="5A5A5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84">
            <a:extLst>
              <a:ext uri="{FF2B5EF4-FFF2-40B4-BE49-F238E27FC236}">
                <a16:creationId xmlns:a16="http://schemas.microsoft.com/office/drawing/2014/main" id="{C4B1CD0E-2613-A13B-70B3-6D9463DB0A8E}"/>
              </a:ext>
            </a:extLst>
          </p:cNvPr>
          <p:cNvCxnSpPr>
            <a:cxnSpLocks/>
          </p:cNvCxnSpPr>
          <p:nvPr/>
        </p:nvCxnSpPr>
        <p:spPr>
          <a:xfrm>
            <a:off x="9978595" y="3943669"/>
            <a:ext cx="3882" cy="1259787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Isosceles Triangle 473">
            <a:extLst>
              <a:ext uri="{FF2B5EF4-FFF2-40B4-BE49-F238E27FC236}">
                <a16:creationId xmlns:a16="http://schemas.microsoft.com/office/drawing/2014/main" id="{6F6EB115-1B3F-E4C2-E917-C0D156EE992A}"/>
              </a:ext>
            </a:extLst>
          </p:cNvPr>
          <p:cNvSpPr/>
          <p:nvPr/>
        </p:nvSpPr>
        <p:spPr>
          <a:xfrm>
            <a:off x="9932875" y="3943669"/>
            <a:ext cx="91440" cy="91440"/>
          </a:xfrm>
          <a:prstGeom prst="triangle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F49DD12E-2247-99E3-E87A-4024012AEE81}"/>
              </a:ext>
            </a:extLst>
          </p:cNvPr>
          <p:cNvSpPr txBox="1"/>
          <p:nvPr/>
        </p:nvSpPr>
        <p:spPr>
          <a:xfrm>
            <a:off x="7411246" y="3130407"/>
            <a:ext cx="1240945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900" dirty="0"/>
              <a:t>/</a:t>
            </a:r>
            <a:r>
              <a:rPr lang="en-US" sz="900" dirty="0" err="1"/>
              <a:t>global_costmap</a:t>
            </a:r>
            <a:endParaRPr lang="es-ES" sz="900" b="0" dirty="0">
              <a:solidFill>
                <a:srgbClr val="282828"/>
              </a:solidFill>
              <a:latin typeface="Calibri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A2F1EF1A-A40C-F677-1632-71A94D96FA5B}"/>
              </a:ext>
            </a:extLst>
          </p:cNvPr>
          <p:cNvSpPr txBox="1"/>
          <p:nvPr/>
        </p:nvSpPr>
        <p:spPr>
          <a:xfrm>
            <a:off x="6703361" y="4942727"/>
            <a:ext cx="1240945" cy="2308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900" dirty="0" err="1"/>
              <a:t>FollowPath</a:t>
            </a:r>
            <a:endParaRPr lang="es-ES" sz="900" b="0" dirty="0">
              <a:solidFill>
                <a:srgbClr val="282828"/>
              </a:solidFill>
              <a:latin typeface="Calibri"/>
            </a:endParaRPr>
          </a:p>
        </p:txBody>
      </p:sp>
      <p:cxnSp>
        <p:nvCxnSpPr>
          <p:cNvPr id="500" name="Connector 109">
            <a:extLst>
              <a:ext uri="{FF2B5EF4-FFF2-40B4-BE49-F238E27FC236}">
                <a16:creationId xmlns:a16="http://schemas.microsoft.com/office/drawing/2014/main" id="{4A1BFC62-B3D9-A2A1-A22A-3435A522BC6C}"/>
              </a:ext>
            </a:extLst>
          </p:cNvPr>
          <p:cNvCxnSpPr>
            <a:cxnSpLocks/>
            <a:stCxn id="224" idx="2"/>
          </p:cNvCxnSpPr>
          <p:nvPr/>
        </p:nvCxnSpPr>
        <p:spPr>
          <a:xfrm>
            <a:off x="8565338" y="6489781"/>
            <a:ext cx="0" cy="692753"/>
          </a:xfrm>
          <a:prstGeom prst="line">
            <a:avLst/>
          </a:prstGeom>
          <a:ln w="20320">
            <a:solidFill>
              <a:srgbClr val="3B6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84">
            <a:extLst>
              <a:ext uri="{FF2B5EF4-FFF2-40B4-BE49-F238E27FC236}">
                <a16:creationId xmlns:a16="http://schemas.microsoft.com/office/drawing/2014/main" id="{FC3502DA-5DB7-10AB-4134-EF9D660F3C25}"/>
              </a:ext>
            </a:extLst>
          </p:cNvPr>
          <p:cNvCxnSpPr>
            <a:cxnSpLocks/>
            <a:endCxn id="268" idx="0"/>
          </p:cNvCxnSpPr>
          <p:nvPr/>
        </p:nvCxnSpPr>
        <p:spPr>
          <a:xfrm>
            <a:off x="8469357" y="3114305"/>
            <a:ext cx="0" cy="1033803"/>
          </a:xfrm>
          <a:prstGeom prst="line">
            <a:avLst/>
          </a:prstGeom>
          <a:ln w="20320">
            <a:solidFill>
              <a:srgbClr val="28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383002A7-8654-7C2B-54F5-A2D3CB7B427E}"/>
              </a:ext>
            </a:extLst>
          </p:cNvPr>
          <p:cNvSpPr txBox="1"/>
          <p:nvPr/>
        </p:nvSpPr>
        <p:spPr>
          <a:xfrm>
            <a:off x="10876047" y="2287696"/>
            <a:ext cx="1421622" cy="2431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980" b="0" dirty="0" err="1">
                <a:solidFill>
                  <a:srgbClr val="282828"/>
                </a:solidFill>
                <a:latin typeface="Calibri"/>
              </a:rPr>
              <a:t>local_costmap</a:t>
            </a:r>
            <a:endParaRPr sz="980" b="0" dirty="0">
              <a:solidFill>
                <a:srgbClr val="282828"/>
              </a:solidFill>
              <a:latin typeface="Calibri"/>
            </a:endParaRPr>
          </a:p>
        </p:txBody>
      </p:sp>
      <p:sp>
        <p:nvSpPr>
          <p:cNvPr id="516" name="Rounded Rectangle 14">
            <a:extLst>
              <a:ext uri="{FF2B5EF4-FFF2-40B4-BE49-F238E27FC236}">
                <a16:creationId xmlns:a16="http://schemas.microsoft.com/office/drawing/2014/main" id="{882E7020-9992-5324-B6E1-1405C492C94C}"/>
              </a:ext>
            </a:extLst>
          </p:cNvPr>
          <p:cNvSpPr/>
          <p:nvPr/>
        </p:nvSpPr>
        <p:spPr>
          <a:xfrm>
            <a:off x="10809175" y="467588"/>
            <a:ext cx="228600" cy="182816"/>
          </a:xfrm>
          <a:prstGeom prst="roundRect">
            <a:avLst/>
          </a:prstGeom>
          <a:solidFill>
            <a:srgbClr val="185D3D"/>
          </a:solidFill>
          <a:ln w="15240">
            <a:solidFill>
              <a:srgbClr val="27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B2364734-7FE3-A0A3-B983-1EA18684F88E}"/>
              </a:ext>
            </a:extLst>
          </p:cNvPr>
          <p:cNvSpPr txBox="1"/>
          <p:nvPr/>
        </p:nvSpPr>
        <p:spPr>
          <a:xfrm>
            <a:off x="11103299" y="445426"/>
            <a:ext cx="1471168" cy="23852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s-ES" sz="950" b="0" dirty="0">
                <a:solidFill>
                  <a:srgbClr val="282828"/>
                </a:solidFill>
                <a:latin typeface="Calibri"/>
              </a:rPr>
              <a:t>Módulo lógico</a:t>
            </a:r>
            <a:endParaRPr sz="950" b="0" dirty="0">
              <a:solidFill>
                <a:srgbClr val="282828"/>
              </a:solidFill>
              <a:latin typeface="Calibri"/>
            </a:endParaRPr>
          </a:p>
        </p:txBody>
      </p:sp>
      <p:sp>
        <p:nvSpPr>
          <p:cNvPr id="522" name="Rounded Rectangle 20">
            <a:extLst>
              <a:ext uri="{FF2B5EF4-FFF2-40B4-BE49-F238E27FC236}">
                <a16:creationId xmlns:a16="http://schemas.microsoft.com/office/drawing/2014/main" id="{35C12098-9531-7827-81C3-7EB41086D57A}"/>
              </a:ext>
            </a:extLst>
          </p:cNvPr>
          <p:cNvSpPr/>
          <p:nvPr/>
        </p:nvSpPr>
        <p:spPr>
          <a:xfrm>
            <a:off x="4804664" y="5613987"/>
            <a:ext cx="667139" cy="287311"/>
          </a:xfrm>
          <a:prstGeom prst="roundRect">
            <a:avLst/>
          </a:prstGeom>
          <a:solidFill>
            <a:srgbClr val="3B68D9"/>
          </a:solidFill>
          <a:ln w="15240"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Calibri"/>
              </a:rPr>
              <a:t>/</a:t>
            </a:r>
            <a:r>
              <a:rPr lang="es-ES" sz="1200" b="1" dirty="0" err="1">
                <a:solidFill>
                  <a:schemeClr val="bg1"/>
                </a:solidFill>
                <a:latin typeface="Calibri"/>
              </a:rPr>
              <a:t>odom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530" name="Connector 129">
            <a:extLst>
              <a:ext uri="{FF2B5EF4-FFF2-40B4-BE49-F238E27FC236}">
                <a16:creationId xmlns:a16="http://schemas.microsoft.com/office/drawing/2014/main" id="{8CDD877E-6717-72ED-321A-FA648F535444}"/>
              </a:ext>
            </a:extLst>
          </p:cNvPr>
          <p:cNvCxnSpPr>
            <a:cxnSpLocks/>
            <a:endCxn id="531" idx="3"/>
          </p:cNvCxnSpPr>
          <p:nvPr/>
        </p:nvCxnSpPr>
        <p:spPr>
          <a:xfrm flipV="1">
            <a:off x="6313869" y="6116859"/>
            <a:ext cx="0" cy="703326"/>
          </a:xfrm>
          <a:prstGeom prst="line">
            <a:avLst/>
          </a:prstGeom>
          <a:ln w="22860">
            <a:solidFill>
              <a:srgbClr val="3C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Isosceles Triangle 530">
            <a:extLst>
              <a:ext uri="{FF2B5EF4-FFF2-40B4-BE49-F238E27FC236}">
                <a16:creationId xmlns:a16="http://schemas.microsoft.com/office/drawing/2014/main" id="{83007866-D0AE-D836-34B2-5396D439A597}"/>
              </a:ext>
            </a:extLst>
          </p:cNvPr>
          <p:cNvSpPr/>
          <p:nvPr/>
        </p:nvSpPr>
        <p:spPr>
          <a:xfrm>
            <a:off x="6268149" y="6025419"/>
            <a:ext cx="91440" cy="91440"/>
          </a:xfrm>
          <a:prstGeom prst="triangle">
            <a:avLst/>
          </a:prstGeom>
          <a:solidFill>
            <a:srgbClr val="3C69DC"/>
          </a:solidFill>
          <a:ln>
            <a:solidFill>
              <a:srgbClr val="3C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2" name="Rounded Rectangle 20">
            <a:extLst>
              <a:ext uri="{FF2B5EF4-FFF2-40B4-BE49-F238E27FC236}">
                <a16:creationId xmlns:a16="http://schemas.microsoft.com/office/drawing/2014/main" id="{C879C291-0016-C142-0B30-BB3FB4003B59}"/>
              </a:ext>
            </a:extLst>
          </p:cNvPr>
          <p:cNvSpPr/>
          <p:nvPr/>
        </p:nvSpPr>
        <p:spPr>
          <a:xfrm>
            <a:off x="5575655" y="5597547"/>
            <a:ext cx="1536191" cy="427244"/>
          </a:xfrm>
          <a:prstGeom prst="roundRect">
            <a:avLst/>
          </a:prstGeom>
          <a:solidFill>
            <a:srgbClr val="3B68D9"/>
          </a:solidFill>
          <a:ln w="15240"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Calibri"/>
              </a:rPr>
              <a:t>TF (</a:t>
            </a:r>
            <a:r>
              <a:rPr lang="es-ES" sz="1200" b="1" dirty="0" err="1">
                <a:solidFill>
                  <a:schemeClr val="bg1"/>
                </a:solidFill>
                <a:latin typeface="Calibri"/>
              </a:rPr>
              <a:t>odom→base_link</a:t>
            </a:r>
            <a:r>
              <a:rPr lang="es-ES" sz="1200" b="1" dirty="0">
                <a:solidFill>
                  <a:schemeClr val="bg1"/>
                </a:solidFill>
                <a:latin typeface="Calibri"/>
              </a:rPr>
              <a:t>)</a:t>
            </a:r>
            <a:endParaRPr sz="1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48" name="Rounded Rectangle 14">
            <a:extLst>
              <a:ext uri="{FF2B5EF4-FFF2-40B4-BE49-F238E27FC236}">
                <a16:creationId xmlns:a16="http://schemas.microsoft.com/office/drawing/2014/main" id="{8EC30893-4889-3485-120E-E20D2C6F7448}"/>
              </a:ext>
            </a:extLst>
          </p:cNvPr>
          <p:cNvSpPr/>
          <p:nvPr/>
        </p:nvSpPr>
        <p:spPr>
          <a:xfrm>
            <a:off x="10809175" y="768858"/>
            <a:ext cx="228600" cy="182816"/>
          </a:xfrm>
          <a:prstGeom prst="roundRect">
            <a:avLst/>
          </a:prstGeom>
          <a:solidFill>
            <a:srgbClr val="3B68D9"/>
          </a:solidFill>
          <a:ln w="15240">
            <a:solidFill>
              <a:srgbClr val="3B6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F1B27E9D-0AC6-412D-8600-F3197B68B6B4}"/>
              </a:ext>
            </a:extLst>
          </p:cNvPr>
          <p:cNvSpPr txBox="1"/>
          <p:nvPr/>
        </p:nvSpPr>
        <p:spPr>
          <a:xfrm>
            <a:off x="11103299" y="746696"/>
            <a:ext cx="1471168" cy="23852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es-ES" sz="950" b="0" dirty="0">
                <a:solidFill>
                  <a:srgbClr val="282828"/>
                </a:solidFill>
                <a:latin typeface="Calibri"/>
              </a:rPr>
              <a:t>Tópico / TF</a:t>
            </a:r>
            <a:endParaRPr sz="950" b="0" dirty="0">
              <a:solidFill>
                <a:srgbClr val="282828"/>
              </a:solidFill>
              <a:latin typeface="Calibri"/>
            </a:endParaRP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E082CB3E-CB43-AF27-FE19-F81D7331294D}"/>
              </a:ext>
            </a:extLst>
          </p:cNvPr>
          <p:cNvSpPr txBox="1"/>
          <p:nvPr/>
        </p:nvSpPr>
        <p:spPr>
          <a:xfrm>
            <a:off x="5425441" y="8574653"/>
            <a:ext cx="1868296" cy="2462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1000" b="0" dirty="0" err="1">
                <a:solidFill>
                  <a:srgbClr val="002060"/>
                </a:solidFill>
                <a:latin typeface="Calibri"/>
              </a:rPr>
              <a:t>Conteos</a:t>
            </a:r>
            <a:r>
              <a:rPr lang="en-US" sz="1000" b="0" dirty="0">
                <a:solidFill>
                  <a:srgbClr val="002060"/>
                </a:solidFill>
                <a:latin typeface="Calibri"/>
              </a:rPr>
              <a:t> de encoder</a:t>
            </a:r>
            <a:endParaRPr sz="1000" b="0" dirty="0">
              <a:solidFill>
                <a:srgbClr val="00206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224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navegación autónoma ROS 2</dc:title>
  <dc:subject>Diagrama editable nativo en PowerPoint</dc:subject>
  <dc:creator>OpenAI</dc:creator>
  <cp:keywords/>
  <dc:description>generated using python-pptx</dc:description>
  <cp:lastModifiedBy>Sebastian Valderas</cp:lastModifiedBy>
  <cp:revision>23</cp:revision>
  <dcterms:created xsi:type="dcterms:W3CDTF">2013-01-27T09:14:16Z</dcterms:created>
  <dcterms:modified xsi:type="dcterms:W3CDTF">2026-07-26T00:49:49Z</dcterms:modified>
  <cp:category/>
</cp:coreProperties>
</file>