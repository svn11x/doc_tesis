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9034" autoAdjust="0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78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6416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722FE280-0E8F-1036-EE60-21DD9999EA6A}"/>
              </a:ext>
            </a:extLst>
          </p:cNvPr>
          <p:cNvSpPr/>
          <p:nvPr/>
        </p:nvSpPr>
        <p:spPr>
          <a:xfrm>
            <a:off x="1559190" y="4728418"/>
            <a:ext cx="6157888" cy="38009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4463" y="378125"/>
            <a:ext cx="3852637" cy="4288743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12700">
            <a:solidFill>
              <a:srgbClr val="C2C9D4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" name="Shape 3"/>
          <p:cNvSpPr/>
          <p:nvPr/>
        </p:nvSpPr>
        <p:spPr>
          <a:xfrm>
            <a:off x="5235945" y="361603"/>
            <a:ext cx="3852637" cy="4288742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C2C9D4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6" name="Shape 4"/>
          <p:cNvSpPr/>
          <p:nvPr/>
        </p:nvSpPr>
        <p:spPr>
          <a:xfrm>
            <a:off x="163918" y="471331"/>
            <a:ext cx="3655226" cy="1277335"/>
          </a:xfrm>
          <a:prstGeom prst="roundRect">
            <a:avLst>
              <a:gd name="adj" fmla="val 3590"/>
            </a:avLst>
          </a:prstGeom>
          <a:solidFill>
            <a:srgbClr val="E7F2F4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7" name="Text 5"/>
          <p:cNvSpPr/>
          <p:nvPr/>
        </p:nvSpPr>
        <p:spPr>
          <a:xfrm>
            <a:off x="1113536" y="493155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L" sz="850" b="1" kern="0" spc="100" noProof="0" dirty="0">
                <a:solidFill>
                  <a:srgbClr val="0E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SENSADO</a:t>
            </a:r>
            <a:endParaRPr lang="es-CL" sz="850" noProof="0" dirty="0"/>
          </a:p>
        </p:txBody>
      </p:sp>
      <p:sp>
        <p:nvSpPr>
          <p:cNvPr id="10" name="Shape 8"/>
          <p:cNvSpPr/>
          <p:nvPr/>
        </p:nvSpPr>
        <p:spPr>
          <a:xfrm>
            <a:off x="170014" y="2070434"/>
            <a:ext cx="1988820" cy="2461261"/>
          </a:xfrm>
          <a:prstGeom prst="roundRect">
            <a:avLst>
              <a:gd name="adj" fmla="val 4242"/>
            </a:avLst>
          </a:prstGeom>
          <a:solidFill>
            <a:srgbClr val="FBEDDC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Text 9"/>
          <p:cNvSpPr/>
          <p:nvPr/>
        </p:nvSpPr>
        <p:spPr>
          <a:xfrm>
            <a:off x="243166" y="2153148"/>
            <a:ext cx="208026" cy="2285985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s-CL" sz="850" b="1" kern="0" spc="100" noProof="0" dirty="0">
                <a:solidFill>
                  <a:srgbClr val="9C4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 BAJO NIVEL</a:t>
            </a:r>
            <a:endParaRPr lang="es-CL" sz="850" noProof="0" dirty="0"/>
          </a:p>
        </p:txBody>
      </p:sp>
      <p:sp>
        <p:nvSpPr>
          <p:cNvPr id="12" name="Shape 10"/>
          <p:cNvSpPr/>
          <p:nvPr/>
        </p:nvSpPr>
        <p:spPr>
          <a:xfrm>
            <a:off x="2207260" y="727604"/>
            <a:ext cx="1463040" cy="859053"/>
          </a:xfrm>
          <a:prstGeom prst="roundRect">
            <a:avLst>
              <a:gd name="adj" fmla="val 7273"/>
            </a:avLst>
          </a:prstGeom>
          <a:solidFill>
            <a:srgbClr val="156C78"/>
          </a:solidFill>
          <a:ln w="9525">
            <a:solidFill>
              <a:srgbClr val="156C78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6" name="Text 14"/>
          <p:cNvSpPr/>
          <p:nvPr/>
        </p:nvSpPr>
        <p:spPr>
          <a:xfrm>
            <a:off x="2252980" y="1138602"/>
            <a:ext cx="13716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s-CL" sz="1050" b="1" noProof="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</a:t>
            </a:r>
            <a:r>
              <a:rPr lang="es-CL" sz="105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2D</a:t>
            </a:r>
            <a:endParaRPr lang="es-CL" sz="1050" noProof="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s-CL" sz="790" noProof="0" dirty="0">
                <a:solidFill>
                  <a:srgbClr val="F1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Percepción del entorno</a:t>
            </a:r>
            <a:endParaRPr lang="es-CL" sz="1050" noProof="0" dirty="0"/>
          </a:p>
        </p:txBody>
      </p:sp>
      <p:sp>
        <p:nvSpPr>
          <p:cNvPr id="17" name="Shape 15"/>
          <p:cNvSpPr/>
          <p:nvPr/>
        </p:nvSpPr>
        <p:spPr>
          <a:xfrm>
            <a:off x="318008" y="704366"/>
            <a:ext cx="1463040" cy="853994"/>
          </a:xfrm>
          <a:prstGeom prst="roundRect">
            <a:avLst>
              <a:gd name="adj" fmla="val 7273"/>
            </a:avLst>
          </a:prstGeom>
          <a:solidFill>
            <a:srgbClr val="156C78"/>
          </a:solidFill>
          <a:ln w="9525">
            <a:solidFill>
              <a:srgbClr val="156C78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1" name="Text 19"/>
          <p:cNvSpPr/>
          <p:nvPr/>
        </p:nvSpPr>
        <p:spPr>
          <a:xfrm>
            <a:off x="318008" y="1088414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s-CL" sz="1050" b="1" noProof="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Encoders</a:t>
            </a:r>
            <a:endParaRPr lang="es-CL" sz="1050" noProof="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s-CL" sz="790" noProof="0" dirty="0">
                <a:solidFill>
                  <a:srgbClr val="F1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Medición del giro</a:t>
            </a:r>
            <a:endParaRPr lang="es-CL" sz="1050" noProof="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s-CL" sz="790" noProof="0" dirty="0">
                <a:solidFill>
                  <a:srgbClr val="F1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las ruedas</a:t>
            </a:r>
            <a:endParaRPr lang="es-CL" sz="1050" noProof="0" dirty="0"/>
          </a:p>
        </p:txBody>
      </p:sp>
      <p:sp>
        <p:nvSpPr>
          <p:cNvPr id="22" name="Shape 20"/>
          <p:cNvSpPr/>
          <p:nvPr/>
        </p:nvSpPr>
        <p:spPr>
          <a:xfrm>
            <a:off x="2396236" y="2390322"/>
            <a:ext cx="1325880" cy="959873"/>
          </a:xfrm>
          <a:prstGeom prst="roundRect">
            <a:avLst>
              <a:gd name="adj" fmla="val 6957"/>
            </a:avLst>
          </a:prstGeom>
          <a:solidFill>
            <a:srgbClr val="2B5AA0"/>
          </a:solidFill>
          <a:ln w="9525">
            <a:solidFill>
              <a:srgbClr val="2B5A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9" name="Text 27"/>
          <p:cNvSpPr/>
          <p:nvPr/>
        </p:nvSpPr>
        <p:spPr>
          <a:xfrm>
            <a:off x="2441956" y="2774371"/>
            <a:ext cx="1253490" cy="507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s-CL" sz="105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Raspberry Pi 4</a:t>
            </a:r>
            <a:endParaRPr lang="es-CL" sz="1050" noProof="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s-ES" sz="790" noProof="0" dirty="0">
                <a:solidFill>
                  <a:srgbClr val="F1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 ROS 2 y estimación de </a:t>
            </a:r>
            <a:r>
              <a:rPr lang="es-ES" sz="790" noProof="0" dirty="0" err="1">
                <a:solidFill>
                  <a:srgbClr val="F1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odometría</a:t>
            </a:r>
            <a:endParaRPr lang="es-CL" sz="1050" noProof="0" dirty="0"/>
          </a:p>
        </p:txBody>
      </p:sp>
      <p:sp>
        <p:nvSpPr>
          <p:cNvPr id="30" name="Shape 28"/>
          <p:cNvSpPr/>
          <p:nvPr/>
        </p:nvSpPr>
        <p:spPr>
          <a:xfrm>
            <a:off x="533487" y="2334479"/>
            <a:ext cx="1421333" cy="942963"/>
          </a:xfrm>
          <a:prstGeom prst="roundRect">
            <a:avLst>
              <a:gd name="adj" fmla="val 7273"/>
            </a:avLst>
          </a:prstGeom>
          <a:solidFill>
            <a:srgbClr val="CB6B22"/>
          </a:solidFill>
          <a:ln w="9525">
            <a:solidFill>
              <a:srgbClr val="CB6B22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5" name="Text 33"/>
          <p:cNvSpPr/>
          <p:nvPr/>
        </p:nvSpPr>
        <p:spPr>
          <a:xfrm>
            <a:off x="577336" y="2747740"/>
            <a:ext cx="1286565" cy="468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s-CL" sz="105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Arduino</a:t>
            </a:r>
            <a:endParaRPr lang="es-CL" sz="1050" noProof="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s-ES" sz="790" noProof="0" dirty="0">
                <a:solidFill>
                  <a:srgbClr val="F1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PI incremental y lectura de </a:t>
            </a:r>
            <a:r>
              <a:rPr lang="es-ES" sz="790" noProof="0" dirty="0" err="1">
                <a:solidFill>
                  <a:srgbClr val="F1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encoders</a:t>
            </a:r>
            <a:endParaRPr lang="es-CL" sz="1050" noProof="0" dirty="0"/>
          </a:p>
        </p:txBody>
      </p:sp>
      <p:sp>
        <p:nvSpPr>
          <p:cNvPr id="36" name="Shape 34"/>
          <p:cNvSpPr/>
          <p:nvPr/>
        </p:nvSpPr>
        <p:spPr>
          <a:xfrm>
            <a:off x="538060" y="3537175"/>
            <a:ext cx="1416760" cy="859446"/>
          </a:xfrm>
          <a:prstGeom prst="roundRect">
            <a:avLst>
              <a:gd name="adj" fmla="val 7619"/>
            </a:avLst>
          </a:prstGeom>
          <a:solidFill>
            <a:srgbClr val="CB6B22"/>
          </a:solidFill>
          <a:ln w="9525">
            <a:solidFill>
              <a:srgbClr val="CB6B22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40" name="Text 38"/>
          <p:cNvSpPr/>
          <p:nvPr/>
        </p:nvSpPr>
        <p:spPr>
          <a:xfrm>
            <a:off x="577336" y="3952848"/>
            <a:ext cx="1286566" cy="406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s-CL" sz="105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Motores DC</a:t>
            </a:r>
            <a:endParaRPr lang="es-CL" sz="1050" noProof="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s-CL" sz="790" noProof="0" dirty="0">
                <a:solidFill>
                  <a:srgbClr val="F1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Tracción diferencial</a:t>
            </a:r>
            <a:endParaRPr lang="es-CL" sz="1050" noProof="0" dirty="0"/>
          </a:p>
        </p:txBody>
      </p:sp>
      <p:sp>
        <p:nvSpPr>
          <p:cNvPr id="45" name="Shape 43"/>
          <p:cNvSpPr/>
          <p:nvPr/>
        </p:nvSpPr>
        <p:spPr>
          <a:xfrm>
            <a:off x="5374725" y="720265"/>
            <a:ext cx="1860132" cy="935077"/>
          </a:xfrm>
          <a:prstGeom prst="roundRect">
            <a:avLst>
              <a:gd name="adj" fmla="val 6400"/>
            </a:avLst>
          </a:prstGeom>
          <a:solidFill>
            <a:srgbClr val="654A97"/>
          </a:solidFill>
          <a:ln w="9525">
            <a:solidFill>
              <a:srgbClr val="654A97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0" name="Text 48"/>
          <p:cNvSpPr/>
          <p:nvPr/>
        </p:nvSpPr>
        <p:spPr>
          <a:xfrm>
            <a:off x="6121483" y="792478"/>
            <a:ext cx="930994" cy="813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s-CL" sz="105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SLAM </a:t>
            </a:r>
            <a:r>
              <a:rPr lang="es-CL" sz="1050" b="1" noProof="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Toolbox</a:t>
            </a:r>
            <a:endParaRPr lang="es-CL" sz="1050" noProof="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s-CL" sz="790" noProof="0" dirty="0">
                <a:solidFill>
                  <a:srgbClr val="F1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Mapeo y</a:t>
            </a:r>
            <a:endParaRPr lang="es-CL" sz="1050" noProof="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s-CL" sz="790" noProof="0" dirty="0">
                <a:solidFill>
                  <a:srgbClr val="F1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estimación de pose</a:t>
            </a:r>
            <a:endParaRPr lang="es-CL" sz="1050" noProof="0" dirty="0"/>
          </a:p>
        </p:txBody>
      </p:sp>
      <p:sp>
        <p:nvSpPr>
          <p:cNvPr id="51" name="Shape 49"/>
          <p:cNvSpPr/>
          <p:nvPr/>
        </p:nvSpPr>
        <p:spPr>
          <a:xfrm>
            <a:off x="5401239" y="2374621"/>
            <a:ext cx="1280160" cy="987551"/>
          </a:xfrm>
          <a:prstGeom prst="roundRect">
            <a:avLst>
              <a:gd name="adj" fmla="val 6400"/>
            </a:avLst>
          </a:prstGeom>
          <a:solidFill>
            <a:srgbClr val="654A97"/>
          </a:solidFill>
          <a:ln w="9525">
            <a:solidFill>
              <a:srgbClr val="654A97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4" name="Text 52"/>
          <p:cNvSpPr/>
          <p:nvPr/>
        </p:nvSpPr>
        <p:spPr>
          <a:xfrm>
            <a:off x="5446959" y="2832788"/>
            <a:ext cx="1188720" cy="42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s-CL" sz="105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Nav2</a:t>
            </a:r>
            <a:endParaRPr lang="es-CL" sz="1050" noProof="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s-CL" sz="790" noProof="0" dirty="0">
                <a:solidFill>
                  <a:srgbClr val="F1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Planificación y control</a:t>
            </a:r>
            <a:endParaRPr lang="es-CL" sz="1050" noProof="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s-CL" sz="790" noProof="0" dirty="0">
                <a:solidFill>
                  <a:srgbClr val="F1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navegación</a:t>
            </a:r>
            <a:endParaRPr lang="es-CL" sz="1050" noProof="0" dirty="0"/>
          </a:p>
        </p:txBody>
      </p:sp>
      <p:sp>
        <p:nvSpPr>
          <p:cNvPr id="55" name="Shape 53"/>
          <p:cNvSpPr/>
          <p:nvPr/>
        </p:nvSpPr>
        <p:spPr>
          <a:xfrm>
            <a:off x="7604294" y="719538"/>
            <a:ext cx="1293491" cy="935077"/>
          </a:xfrm>
          <a:prstGeom prst="roundRect">
            <a:avLst>
              <a:gd name="adj" fmla="val 6400"/>
            </a:avLst>
          </a:prstGeom>
          <a:solidFill>
            <a:srgbClr val="654A97"/>
          </a:solidFill>
          <a:ln w="9525">
            <a:solidFill>
              <a:srgbClr val="654A97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60" name="Text 58"/>
          <p:cNvSpPr/>
          <p:nvPr/>
        </p:nvSpPr>
        <p:spPr>
          <a:xfrm>
            <a:off x="7656679" y="1195491"/>
            <a:ext cx="1188720" cy="413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s-CL" sz="105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RViz2</a:t>
            </a:r>
            <a:endParaRPr lang="es-CL" sz="1050" noProof="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s-CL" sz="790" noProof="0" dirty="0">
                <a:solidFill>
                  <a:srgbClr val="F1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Visualización y supervisión</a:t>
            </a:r>
            <a:endParaRPr lang="es-CL" sz="1050" noProof="0" dirty="0"/>
          </a:p>
        </p:txBody>
      </p:sp>
      <p:sp>
        <p:nvSpPr>
          <p:cNvPr id="61" name="Shape 59"/>
          <p:cNvSpPr/>
          <p:nvPr/>
        </p:nvSpPr>
        <p:spPr>
          <a:xfrm>
            <a:off x="7066092" y="2374621"/>
            <a:ext cx="1831694" cy="987552"/>
          </a:xfrm>
          <a:prstGeom prst="roundRect">
            <a:avLst>
              <a:gd name="adj" fmla="val 6400"/>
            </a:avLst>
          </a:prstGeom>
          <a:solidFill>
            <a:srgbClr val="654A97"/>
          </a:solidFill>
          <a:ln w="9525">
            <a:solidFill>
              <a:srgbClr val="654A97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65" name="Text 63"/>
          <p:cNvSpPr/>
          <p:nvPr/>
        </p:nvSpPr>
        <p:spPr>
          <a:xfrm>
            <a:off x="7734803" y="2431900"/>
            <a:ext cx="1036227" cy="88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s-CL" sz="95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Exploración por fronteras</a:t>
            </a:r>
            <a:endParaRPr lang="es-CL" sz="950" noProof="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s-CL" sz="790" noProof="0" dirty="0">
                <a:solidFill>
                  <a:srgbClr val="F1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Generación autónoma</a:t>
            </a:r>
            <a:endParaRPr lang="es-CL" sz="950" noProof="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s-CL" sz="790" noProof="0" dirty="0">
                <a:solidFill>
                  <a:srgbClr val="F1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metas</a:t>
            </a:r>
            <a:endParaRPr lang="es-CL" sz="950" noProof="0" dirty="0"/>
          </a:p>
        </p:txBody>
      </p:sp>
      <p:sp>
        <p:nvSpPr>
          <p:cNvPr id="72" name="Shape 70"/>
          <p:cNvSpPr/>
          <p:nvPr/>
        </p:nvSpPr>
        <p:spPr>
          <a:xfrm>
            <a:off x="1653590" y="4839671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156C78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73" name="Text 71"/>
          <p:cNvSpPr/>
          <p:nvPr/>
        </p:nvSpPr>
        <p:spPr>
          <a:xfrm>
            <a:off x="1863902" y="4784807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900" noProof="0" dirty="0" err="1">
                <a:solidFill>
                  <a:srgbClr val="2A2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Sensado</a:t>
            </a:r>
            <a:endParaRPr lang="es-CL" sz="900" noProof="0" dirty="0"/>
          </a:p>
        </p:txBody>
      </p:sp>
      <p:sp>
        <p:nvSpPr>
          <p:cNvPr id="74" name="Shape 72"/>
          <p:cNvSpPr/>
          <p:nvPr/>
        </p:nvSpPr>
        <p:spPr>
          <a:xfrm>
            <a:off x="2631998" y="4839671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CB6B22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75" name="Text 73"/>
          <p:cNvSpPr/>
          <p:nvPr/>
        </p:nvSpPr>
        <p:spPr>
          <a:xfrm>
            <a:off x="2842310" y="4784807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900" noProof="0" dirty="0">
                <a:solidFill>
                  <a:srgbClr val="2A2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 bajo nivel</a:t>
            </a:r>
            <a:endParaRPr lang="es-CL" sz="900" noProof="0" dirty="0"/>
          </a:p>
        </p:txBody>
      </p:sp>
      <p:sp>
        <p:nvSpPr>
          <p:cNvPr id="76" name="Shape 74"/>
          <p:cNvSpPr/>
          <p:nvPr/>
        </p:nvSpPr>
        <p:spPr>
          <a:xfrm>
            <a:off x="4250486" y="4839671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2B5AA0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77" name="Text 75"/>
          <p:cNvSpPr/>
          <p:nvPr/>
        </p:nvSpPr>
        <p:spPr>
          <a:xfrm>
            <a:off x="4460797" y="4784807"/>
            <a:ext cx="173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900" noProof="0" dirty="0">
                <a:solidFill>
                  <a:srgbClr val="2A2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computacional del robot</a:t>
            </a:r>
            <a:endParaRPr lang="es-CL" sz="900" noProof="0" dirty="0"/>
          </a:p>
        </p:txBody>
      </p:sp>
      <p:sp>
        <p:nvSpPr>
          <p:cNvPr id="78" name="Shape 76"/>
          <p:cNvSpPr/>
          <p:nvPr/>
        </p:nvSpPr>
        <p:spPr>
          <a:xfrm>
            <a:off x="6391198" y="4839671"/>
            <a:ext cx="155448" cy="155448"/>
          </a:xfrm>
          <a:prstGeom prst="roundRect">
            <a:avLst>
              <a:gd name="adj" fmla="val 17647"/>
            </a:avLst>
          </a:prstGeom>
          <a:solidFill>
            <a:srgbClr val="654A97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79" name="Text 77"/>
          <p:cNvSpPr/>
          <p:nvPr/>
        </p:nvSpPr>
        <p:spPr>
          <a:xfrm>
            <a:off x="6601510" y="4784807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L" sz="900" noProof="0" dirty="0">
                <a:solidFill>
                  <a:srgbClr val="2A2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Mapeo y navegación</a:t>
            </a:r>
            <a:endParaRPr lang="es-CL" sz="900" noProof="0" dirty="0"/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C99D25FD-D70E-BD2B-49E7-90D4E9F51E86}"/>
              </a:ext>
            </a:extLst>
          </p:cNvPr>
          <p:cNvCxnSpPr>
            <a:cxnSpLocks/>
            <a:stCxn id="30" idx="2"/>
            <a:endCxn id="36" idx="0"/>
          </p:cNvCxnSpPr>
          <p:nvPr/>
        </p:nvCxnSpPr>
        <p:spPr>
          <a:xfrm>
            <a:off x="1244154" y="3277442"/>
            <a:ext cx="2286" cy="2597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F8959EAD-8EEE-12B8-4313-2A3DA0C3B361}"/>
              </a:ext>
            </a:extLst>
          </p:cNvPr>
          <p:cNvCxnSpPr>
            <a:cxnSpLocks/>
            <a:stCxn id="22" idx="1"/>
          </p:cNvCxnSpPr>
          <p:nvPr/>
        </p:nvCxnSpPr>
        <p:spPr>
          <a:xfrm flipH="1" flipV="1">
            <a:off x="1960986" y="2868120"/>
            <a:ext cx="435250" cy="2139"/>
          </a:xfrm>
          <a:prstGeom prst="straightConnector1">
            <a:avLst/>
          </a:prstGeom>
          <a:ln w="12700" cap="flat" cmpd="sng" algn="ctr">
            <a:solidFill>
              <a:schemeClr val="accent1"/>
            </a:solidFill>
            <a:prstDash val="solid"/>
            <a:round/>
            <a:headEnd type="triangle" w="lg" len="med"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223ED816-11D9-D084-A528-68AB82187D01}"/>
              </a:ext>
            </a:extLst>
          </p:cNvPr>
          <p:cNvCxnSpPr>
            <a:cxnSpLocks/>
            <a:stCxn id="51" idx="1"/>
            <a:endCxn id="22" idx="3"/>
          </p:cNvCxnSpPr>
          <p:nvPr/>
        </p:nvCxnSpPr>
        <p:spPr>
          <a:xfrm flipH="1">
            <a:off x="3722116" y="2868397"/>
            <a:ext cx="1679123" cy="1862"/>
          </a:xfrm>
          <a:prstGeom prst="straightConnector1">
            <a:avLst/>
          </a:prstGeom>
          <a:ln w="12700" cap="flat" cmpd="sng" algn="ctr">
            <a:solidFill>
              <a:schemeClr val="accent1"/>
            </a:solidFill>
            <a:prstDash val="solid"/>
            <a:round/>
            <a:headEnd type="triangle" w="lg" len="med"/>
            <a:tailEnd type="triangle" w="lg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07A33D42-DA6D-7955-390C-E127B448A250}"/>
              </a:ext>
            </a:extLst>
          </p:cNvPr>
          <p:cNvCxnSpPr>
            <a:cxnSpLocks/>
            <a:endCxn id="51" idx="0"/>
          </p:cNvCxnSpPr>
          <p:nvPr/>
        </p:nvCxnSpPr>
        <p:spPr>
          <a:xfrm>
            <a:off x="6041319" y="1676813"/>
            <a:ext cx="0" cy="697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0AD7C13E-51A3-3492-1264-D33353E647D2}"/>
              </a:ext>
            </a:extLst>
          </p:cNvPr>
          <p:cNvCxnSpPr>
            <a:cxnSpLocks/>
            <a:stCxn id="45" idx="3"/>
            <a:endCxn id="55" idx="1"/>
          </p:cNvCxnSpPr>
          <p:nvPr/>
        </p:nvCxnSpPr>
        <p:spPr>
          <a:xfrm flipV="1">
            <a:off x="7234857" y="1187077"/>
            <a:ext cx="369437" cy="7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1F6F4AFC-DBC9-AF03-CF66-82C47AF3B81B}"/>
              </a:ext>
            </a:extLst>
          </p:cNvPr>
          <p:cNvCxnSpPr>
            <a:cxnSpLocks/>
            <a:stCxn id="61" idx="1"/>
            <a:endCxn id="51" idx="3"/>
          </p:cNvCxnSpPr>
          <p:nvPr/>
        </p:nvCxnSpPr>
        <p:spPr>
          <a:xfrm flipH="1">
            <a:off x="6681399" y="2868397"/>
            <a:ext cx="3846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3" name="Picture 6" descr="What is an Encoder?">
            <a:extLst>
              <a:ext uri="{FF2B5EF4-FFF2-40B4-BE49-F238E27FC236}">
                <a16:creationId xmlns:a16="http://schemas.microsoft.com/office/drawing/2014/main" id="{50F1FDB9-B151-E50D-5AC7-9ED85BEFAB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068" y="739834"/>
            <a:ext cx="324743" cy="324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" name="Picture 10" descr="Motor - Iconos gratis de electrónica">
            <a:extLst>
              <a:ext uri="{FF2B5EF4-FFF2-40B4-BE49-F238E27FC236}">
                <a16:creationId xmlns:a16="http://schemas.microsoft.com/office/drawing/2014/main" id="{A25DDBC7-8511-A400-8B52-74448315F3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2" t="15721" r="3331" b="15777"/>
          <a:stretch>
            <a:fillRect/>
          </a:stretch>
        </p:blipFill>
        <p:spPr bwMode="auto">
          <a:xfrm>
            <a:off x="1018028" y="3615404"/>
            <a:ext cx="456824" cy="337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id="{3BDE132F-766B-2D28-AEA6-29ACF56A0478}"/>
              </a:ext>
            </a:extLst>
          </p:cNvPr>
          <p:cNvGrpSpPr/>
          <p:nvPr/>
        </p:nvGrpSpPr>
        <p:grpSpPr>
          <a:xfrm>
            <a:off x="1250155" y="32419"/>
            <a:ext cx="1865950" cy="310896"/>
            <a:chOff x="1079181" y="32419"/>
            <a:chExt cx="1865950" cy="310896"/>
          </a:xfrm>
        </p:grpSpPr>
        <p:sp>
          <p:nvSpPr>
            <p:cNvPr id="2" name="Text 0"/>
            <p:cNvSpPr/>
            <p:nvPr/>
          </p:nvSpPr>
          <p:spPr>
            <a:xfrm>
              <a:off x="1432461" y="32419"/>
              <a:ext cx="151267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L" sz="1400" b="1" kern="0" spc="150" noProof="0" dirty="0">
                  <a:solidFill>
                    <a:srgbClr val="1F2A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ROBOT MÓVIL</a:t>
              </a:r>
              <a:endParaRPr lang="es-CL" sz="1400" noProof="0" dirty="0"/>
            </a:p>
          </p:txBody>
        </p:sp>
        <p:pic>
          <p:nvPicPr>
            <p:cNvPr id="125" name="Picture 124">
              <a:extLst>
                <a:ext uri="{FF2B5EF4-FFF2-40B4-BE49-F238E27FC236}">
                  <a16:creationId xmlns:a16="http://schemas.microsoft.com/office/drawing/2014/main" id="{8E5C22EE-E613-9C21-820B-1887AEEB32A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2147"/>
            <a:stretch>
              <a:fillRect/>
            </a:stretch>
          </p:blipFill>
          <p:spPr>
            <a:xfrm>
              <a:off x="1079181" y="32419"/>
              <a:ext cx="317720" cy="310896"/>
            </a:xfrm>
            <a:prstGeom prst="rect">
              <a:avLst/>
            </a:prstGeom>
          </p:spPr>
        </p:pic>
      </p:grpSp>
      <p:pic>
        <p:nvPicPr>
          <p:cNvPr id="127" name="Picture 126">
            <a:extLst>
              <a:ext uri="{FF2B5EF4-FFF2-40B4-BE49-F238E27FC236}">
                <a16:creationId xmlns:a16="http://schemas.microsoft.com/office/drawing/2014/main" id="{ECC5E9E5-95C0-0C46-BA44-0E90EC60BE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57623" y="792478"/>
            <a:ext cx="324159" cy="324159"/>
          </a:xfrm>
          <a:prstGeom prst="rect">
            <a:avLst/>
          </a:prstGeom>
        </p:spPr>
      </p:pic>
      <p:pic>
        <p:nvPicPr>
          <p:cNvPr id="129" name="Picture 128">
            <a:extLst>
              <a:ext uri="{FF2B5EF4-FFF2-40B4-BE49-F238E27FC236}">
                <a16:creationId xmlns:a16="http://schemas.microsoft.com/office/drawing/2014/main" id="{EBD29FFF-B832-006C-D26B-312FC79CAC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6891" y="2419707"/>
            <a:ext cx="285813" cy="285813"/>
          </a:xfrm>
          <a:prstGeom prst="rect">
            <a:avLst/>
          </a:prstGeom>
        </p:spPr>
      </p:pic>
      <p:pic>
        <p:nvPicPr>
          <p:cNvPr id="131" name="Picture 130">
            <a:extLst>
              <a:ext uri="{FF2B5EF4-FFF2-40B4-BE49-F238E27FC236}">
                <a16:creationId xmlns:a16="http://schemas.microsoft.com/office/drawing/2014/main" id="{F416B0CE-366A-993D-6F8E-77DE2B38548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27072" y="2444847"/>
            <a:ext cx="237227" cy="302893"/>
          </a:xfrm>
          <a:prstGeom prst="rect">
            <a:avLst/>
          </a:prstGeom>
        </p:spPr>
      </p:pic>
      <p:pic>
        <p:nvPicPr>
          <p:cNvPr id="137" name="Picture 136">
            <a:extLst>
              <a:ext uri="{FF2B5EF4-FFF2-40B4-BE49-F238E27FC236}">
                <a16:creationId xmlns:a16="http://schemas.microsoft.com/office/drawing/2014/main" id="{0486D58A-D34E-5674-1C3B-5F9AF06BFBF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57891" y="750358"/>
            <a:ext cx="386296" cy="386296"/>
          </a:xfrm>
          <a:prstGeom prst="rect">
            <a:avLst/>
          </a:prstGeom>
        </p:spPr>
      </p:pic>
      <p:pic>
        <p:nvPicPr>
          <p:cNvPr id="146" name="Picture 145">
            <a:extLst>
              <a:ext uri="{FF2B5EF4-FFF2-40B4-BE49-F238E27FC236}">
                <a16:creationId xmlns:a16="http://schemas.microsoft.com/office/drawing/2014/main" id="{5E4AE9BB-80FC-0F6B-5043-8C599CC8993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84992" y="2515337"/>
            <a:ext cx="295980" cy="29598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48CCD4D-315A-1091-2C53-BCBF7B3E4869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rgbClr val="FFC000">
                <a:shade val="45000"/>
                <a:satMod val="135000"/>
              </a:srgbClr>
              <a:prstClr val="white"/>
            </a:duotone>
          </a:blip>
          <a:srcRect l="23547" r="18730"/>
          <a:stretch>
            <a:fillRect/>
          </a:stretch>
        </p:blipFill>
        <p:spPr>
          <a:xfrm>
            <a:off x="7194937" y="2458023"/>
            <a:ext cx="477520" cy="82725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0F39BD36-A346-8378-3186-0A573D93A959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l="8705" t="5335" r="10022" b="7441"/>
          <a:stretch>
            <a:fillRect/>
          </a:stretch>
        </p:blipFill>
        <p:spPr>
          <a:xfrm>
            <a:off x="5490031" y="908955"/>
            <a:ext cx="513996" cy="551625"/>
          </a:xfrm>
          <a:prstGeom prst="rect">
            <a:avLst/>
          </a:prstGeom>
        </p:spPr>
      </p:pic>
      <p:grpSp>
        <p:nvGrpSpPr>
          <p:cNvPr id="59" name="Group 58">
            <a:extLst>
              <a:ext uri="{FF2B5EF4-FFF2-40B4-BE49-F238E27FC236}">
                <a16:creationId xmlns:a16="http://schemas.microsoft.com/office/drawing/2014/main" id="{05B8F20D-FFB9-1551-13CC-BBE0B3E23652}"/>
              </a:ext>
            </a:extLst>
          </p:cNvPr>
          <p:cNvGrpSpPr/>
          <p:nvPr/>
        </p:nvGrpSpPr>
        <p:grpSpPr>
          <a:xfrm>
            <a:off x="5601384" y="22177"/>
            <a:ext cx="2996327" cy="314064"/>
            <a:chOff x="5601384" y="22177"/>
            <a:chExt cx="2996327" cy="314064"/>
          </a:xfrm>
        </p:grpSpPr>
        <p:sp>
          <p:nvSpPr>
            <p:cNvPr id="3" name="Text 1"/>
            <p:cNvSpPr/>
            <p:nvPr/>
          </p:nvSpPr>
          <p:spPr>
            <a:xfrm>
              <a:off x="6004026" y="25345"/>
              <a:ext cx="2593685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CL" sz="1400" b="1" kern="0" spc="150" noProof="0" dirty="0">
                  <a:solidFill>
                    <a:srgbClr val="1F2A4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ESTACIÓN DE TRABAJO</a:t>
              </a:r>
              <a:endParaRPr lang="es-CL" sz="1400" noProof="0" dirty="0"/>
            </a:p>
          </p:txBody>
        </p:sp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3413F497-5EA1-F99A-BB4D-92CF0CDD4CB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601384" y="22177"/>
              <a:ext cx="310896" cy="310896"/>
            </a:xfrm>
            <a:prstGeom prst="rect">
              <a:avLst/>
            </a:prstGeom>
          </p:spPr>
        </p:pic>
      </p:grpSp>
      <p:cxnSp>
        <p:nvCxnSpPr>
          <p:cNvPr id="85" name="Connector: Elbow 84">
            <a:extLst>
              <a:ext uri="{FF2B5EF4-FFF2-40B4-BE49-F238E27FC236}">
                <a16:creationId xmlns:a16="http://schemas.microsoft.com/office/drawing/2014/main" id="{D488B783-AC2F-4DDA-E533-76B47CCAEA4A}"/>
              </a:ext>
            </a:extLst>
          </p:cNvPr>
          <p:cNvCxnSpPr>
            <a:cxnSpLocks/>
            <a:endCxn id="45" idx="1"/>
          </p:cNvCxnSpPr>
          <p:nvPr/>
        </p:nvCxnSpPr>
        <p:spPr>
          <a:xfrm rot="5400000" flipH="1" flipV="1">
            <a:off x="4140467" y="1633861"/>
            <a:ext cx="1680315" cy="788202"/>
          </a:xfrm>
          <a:prstGeom prst="bentConnector2">
            <a:avLst/>
          </a:prstGeom>
          <a:ln w="127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607B0FB9-9EB1-D809-CBFD-6DE6922420E6}"/>
              </a:ext>
            </a:extLst>
          </p:cNvPr>
          <p:cNvSpPr/>
          <p:nvPr/>
        </p:nvSpPr>
        <p:spPr>
          <a:xfrm>
            <a:off x="4014463" y="2708757"/>
            <a:ext cx="1144119" cy="31872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 dirty="0">
                <a:solidFill>
                  <a:srgbClr val="394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Intercambio de datos y comandos</a:t>
            </a:r>
            <a:endParaRPr lang="es-CL" sz="800" dirty="0"/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4C454CB7-D494-CBBD-A5BF-8F357FD66ABD}"/>
              </a:ext>
            </a:extLst>
          </p:cNvPr>
          <p:cNvCxnSpPr>
            <a:cxnSpLocks/>
          </p:cNvCxnSpPr>
          <p:nvPr/>
        </p:nvCxnSpPr>
        <p:spPr>
          <a:xfrm flipH="1">
            <a:off x="1246526" y="1558360"/>
            <a:ext cx="4932" cy="7761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625EEC28-2477-2CE3-812E-90D59C367A0E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2938780" y="1586657"/>
            <a:ext cx="0" cy="803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824</TotalTime>
  <Words>90</Words>
  <Application>Microsoft Office PowerPoint</Application>
  <PresentationFormat>On-screen Show (16:9)</PresentationFormat>
  <Paragraphs>32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Arquitectura de alto nivel</dc:title>
  <dc:subject>PptxGenJS Presentation</dc:subject>
  <dc:creator>Tesis - Robotica movil diferencial</dc:creator>
  <cp:lastModifiedBy>Sebastian Valderas</cp:lastModifiedBy>
  <cp:revision>12</cp:revision>
  <dcterms:created xsi:type="dcterms:W3CDTF">2026-07-04T22:25:20Z</dcterms:created>
  <dcterms:modified xsi:type="dcterms:W3CDTF">2026-08-06T03:19:09Z</dcterms:modified>
</cp:coreProperties>
</file>